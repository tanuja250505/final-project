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8" r:id="rId1"/>
  </p:sldMasterIdLst>
  <p:notesMasterIdLst>
    <p:notesMasterId r:id="rId27"/>
  </p:notesMasterIdLst>
  <p:sldIdLst>
    <p:sldId id="256" r:id="rId2"/>
    <p:sldId id="268" r:id="rId3"/>
    <p:sldId id="321" r:id="rId4"/>
    <p:sldId id="341" r:id="rId5"/>
    <p:sldId id="329" r:id="rId6"/>
    <p:sldId id="330" r:id="rId7"/>
    <p:sldId id="337" r:id="rId8"/>
    <p:sldId id="349" r:id="rId9"/>
    <p:sldId id="350" r:id="rId10"/>
    <p:sldId id="331" r:id="rId11"/>
    <p:sldId id="351" r:id="rId12"/>
    <p:sldId id="342" r:id="rId13"/>
    <p:sldId id="335" r:id="rId14"/>
    <p:sldId id="352" r:id="rId15"/>
    <p:sldId id="332" r:id="rId16"/>
    <p:sldId id="353" r:id="rId17"/>
    <p:sldId id="355" r:id="rId18"/>
    <p:sldId id="354" r:id="rId19"/>
    <p:sldId id="343" r:id="rId20"/>
    <p:sldId id="345" r:id="rId21"/>
    <p:sldId id="356" r:id="rId22"/>
    <p:sldId id="346" r:id="rId23"/>
    <p:sldId id="357" r:id="rId24"/>
    <p:sldId id="336" r:id="rId25"/>
    <p:sldId id="34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47" autoAdjust="0"/>
    <p:restoredTop sz="93796" autoAdjust="0"/>
  </p:normalViewPr>
  <p:slideViewPr>
    <p:cSldViewPr snapToGrid="0">
      <p:cViewPr varScale="1">
        <p:scale>
          <a:sx n="63" d="100"/>
          <a:sy n="63" d="100"/>
        </p:scale>
        <p:origin x="10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ED8587-992F-496F-9557-7AD57C9E4051}" type="datetimeFigureOut">
              <a:rPr lang="en-IN" smtClean="0"/>
              <a:t>20-04-2026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D5B397-7257-457D-8686-8EF197190B44}" type="slidenum">
              <a:rPr lang="en-IN" smtClean="0"/>
              <a:t>‹#›</a:t>
            </a:fld>
            <a:endParaRPr lang="en-IN"/>
          </a:p>
        </p:txBody>
      </p:sp>
    </p:spTree>
    <p:extLst>
      <p:ext uri="{BB962C8B-B14F-4D97-AF65-F5344CB8AC3E}">
        <p14:creationId xmlns:p14="http://schemas.microsoft.com/office/powerpoint/2010/main" val="2412391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D5B397-7257-457D-8686-8EF197190B44}" type="slidenum">
              <a:rPr lang="en-IN" smtClean="0"/>
              <a:t>3</a:t>
            </a:fld>
            <a:endParaRPr lang="en-IN"/>
          </a:p>
        </p:txBody>
      </p:sp>
    </p:spTree>
    <p:extLst>
      <p:ext uri="{BB962C8B-B14F-4D97-AF65-F5344CB8AC3E}">
        <p14:creationId xmlns:p14="http://schemas.microsoft.com/office/powerpoint/2010/main" val="3996326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D5B397-7257-457D-8686-8EF197190B44}" type="slidenum">
              <a:rPr lang="en-IN" smtClean="0"/>
              <a:t>6</a:t>
            </a:fld>
            <a:endParaRPr lang="en-IN"/>
          </a:p>
        </p:txBody>
      </p:sp>
    </p:spTree>
    <p:extLst>
      <p:ext uri="{BB962C8B-B14F-4D97-AF65-F5344CB8AC3E}">
        <p14:creationId xmlns:p14="http://schemas.microsoft.com/office/powerpoint/2010/main" val="989006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D5B397-7257-457D-8686-8EF197190B44}" type="slidenum">
              <a:rPr lang="en-IN" smtClean="0"/>
              <a:t>8</a:t>
            </a:fld>
            <a:endParaRPr lang="en-IN"/>
          </a:p>
        </p:txBody>
      </p:sp>
    </p:spTree>
    <p:extLst>
      <p:ext uri="{BB962C8B-B14F-4D97-AF65-F5344CB8AC3E}">
        <p14:creationId xmlns:p14="http://schemas.microsoft.com/office/powerpoint/2010/main" val="3988815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D5B397-7257-457D-8686-8EF197190B44}" type="slidenum">
              <a:rPr lang="en-IN" smtClean="0"/>
              <a:t>9</a:t>
            </a:fld>
            <a:endParaRPr lang="en-IN"/>
          </a:p>
        </p:txBody>
      </p:sp>
    </p:spTree>
    <p:extLst>
      <p:ext uri="{BB962C8B-B14F-4D97-AF65-F5344CB8AC3E}">
        <p14:creationId xmlns:p14="http://schemas.microsoft.com/office/powerpoint/2010/main" val="4251095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D5B397-7257-457D-8686-8EF197190B44}" type="slidenum">
              <a:rPr lang="en-IN" smtClean="0"/>
              <a:t>12</a:t>
            </a:fld>
            <a:endParaRPr lang="en-IN"/>
          </a:p>
        </p:txBody>
      </p:sp>
    </p:spTree>
    <p:extLst>
      <p:ext uri="{BB962C8B-B14F-4D97-AF65-F5344CB8AC3E}">
        <p14:creationId xmlns:p14="http://schemas.microsoft.com/office/powerpoint/2010/main" val="398632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0D5B397-7257-457D-8686-8EF197190B44}" type="slidenum">
              <a:rPr lang="en-IN" smtClean="0"/>
              <a:t>13</a:t>
            </a:fld>
            <a:endParaRPr lang="en-IN"/>
          </a:p>
        </p:txBody>
      </p:sp>
    </p:spTree>
    <p:extLst>
      <p:ext uri="{BB962C8B-B14F-4D97-AF65-F5344CB8AC3E}">
        <p14:creationId xmlns:p14="http://schemas.microsoft.com/office/powerpoint/2010/main" val="3387987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D5B397-7257-457D-8686-8EF197190B44}" type="slidenum">
              <a:rPr lang="en-IN" smtClean="0"/>
              <a:t>14</a:t>
            </a:fld>
            <a:endParaRPr lang="en-IN"/>
          </a:p>
        </p:txBody>
      </p:sp>
    </p:spTree>
    <p:extLst>
      <p:ext uri="{BB962C8B-B14F-4D97-AF65-F5344CB8AC3E}">
        <p14:creationId xmlns:p14="http://schemas.microsoft.com/office/powerpoint/2010/main" val="142574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D5B397-7257-457D-8686-8EF197190B44}" type="slidenum">
              <a:rPr lang="en-IN" smtClean="0"/>
              <a:t>15</a:t>
            </a:fld>
            <a:endParaRPr lang="en-IN"/>
          </a:p>
        </p:txBody>
      </p:sp>
    </p:spTree>
    <p:extLst>
      <p:ext uri="{BB962C8B-B14F-4D97-AF65-F5344CB8AC3E}">
        <p14:creationId xmlns:p14="http://schemas.microsoft.com/office/powerpoint/2010/main" val="1411408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D5B397-7257-457D-8686-8EF197190B44}" type="slidenum">
              <a:rPr lang="en-IN" smtClean="0"/>
              <a:t>16</a:t>
            </a:fld>
            <a:endParaRPr lang="en-IN"/>
          </a:p>
        </p:txBody>
      </p:sp>
    </p:spTree>
    <p:extLst>
      <p:ext uri="{BB962C8B-B14F-4D97-AF65-F5344CB8AC3E}">
        <p14:creationId xmlns:p14="http://schemas.microsoft.com/office/powerpoint/2010/main" val="1914306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D5B397-7257-457D-8686-8EF197190B44}" type="slidenum">
              <a:rPr lang="en-IN" smtClean="0"/>
              <a:t>17</a:t>
            </a:fld>
            <a:endParaRPr lang="en-IN"/>
          </a:p>
        </p:txBody>
      </p:sp>
    </p:spTree>
    <p:extLst>
      <p:ext uri="{BB962C8B-B14F-4D97-AF65-F5344CB8AC3E}">
        <p14:creationId xmlns:p14="http://schemas.microsoft.com/office/powerpoint/2010/main" val="2960497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D5B397-7257-457D-8686-8EF197190B44}" type="slidenum">
              <a:rPr lang="en-IN" smtClean="0"/>
              <a:t>18</a:t>
            </a:fld>
            <a:endParaRPr lang="en-IN"/>
          </a:p>
        </p:txBody>
      </p:sp>
    </p:spTree>
    <p:extLst>
      <p:ext uri="{BB962C8B-B14F-4D97-AF65-F5344CB8AC3E}">
        <p14:creationId xmlns:p14="http://schemas.microsoft.com/office/powerpoint/2010/main" val="3425751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0D5B397-7257-457D-8686-8EF197190B44}" type="slidenum">
              <a:rPr lang="en-IN" smtClean="0"/>
              <a:t>22</a:t>
            </a:fld>
            <a:endParaRPr lang="en-IN"/>
          </a:p>
        </p:txBody>
      </p:sp>
    </p:spTree>
    <p:extLst>
      <p:ext uri="{BB962C8B-B14F-4D97-AF65-F5344CB8AC3E}">
        <p14:creationId xmlns:p14="http://schemas.microsoft.com/office/powerpoint/2010/main" val="4115803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a:p>
            <a:endParaRPr lang="en-IN"/>
          </a:p>
        </p:txBody>
      </p:sp>
      <p:sp>
        <p:nvSpPr>
          <p:cNvPr id="4" name="Slide Number Placeholder 3"/>
          <p:cNvSpPr>
            <a:spLocks noGrp="1"/>
          </p:cNvSpPr>
          <p:nvPr>
            <p:ph type="sldNum" sz="quarter" idx="5"/>
          </p:nvPr>
        </p:nvSpPr>
        <p:spPr/>
        <p:txBody>
          <a:bodyPr/>
          <a:lstStyle/>
          <a:p>
            <a:fld id="{E0D5B397-7257-457D-8686-8EF197190B44}" type="slidenum">
              <a:rPr lang="en-IN" smtClean="0"/>
              <a:t>25</a:t>
            </a:fld>
            <a:endParaRPr lang="en-IN"/>
          </a:p>
        </p:txBody>
      </p:sp>
    </p:spTree>
    <p:extLst>
      <p:ext uri="{BB962C8B-B14F-4D97-AF65-F5344CB8AC3E}">
        <p14:creationId xmlns:p14="http://schemas.microsoft.com/office/powerpoint/2010/main" val="3723720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6CD54-BD83-E61A-6E8B-98AE536E82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3475CA-1D09-ED53-5830-4B83AD09A8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70EB802-1432-F93F-C199-F667A7FDA44B}"/>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5" name="Footer Placeholder 4">
            <a:extLst>
              <a:ext uri="{FF2B5EF4-FFF2-40B4-BE49-F238E27FC236}">
                <a16:creationId xmlns:a16="http://schemas.microsoft.com/office/drawing/2014/main" id="{27561BE8-5386-1D25-7E09-3EEBC131B2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B39FC2-68AD-2E4D-A43C-38875AEE19FA}"/>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3067308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C1DA3-D16A-9022-067B-B1D5F2261B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5AC0B1-3F39-B310-506C-A11F162457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E86E11-9687-4219-952F-4377038FAADE}"/>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5" name="Footer Placeholder 4">
            <a:extLst>
              <a:ext uri="{FF2B5EF4-FFF2-40B4-BE49-F238E27FC236}">
                <a16:creationId xmlns:a16="http://schemas.microsoft.com/office/drawing/2014/main" id="{CCEBEB7A-1785-6E18-459E-695545D3F8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4AA22E-3C1A-EB52-FBF6-EABF12872CEC}"/>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129689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B5B4-C5B4-BA11-C774-F48D93E502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EE4CB28-36A1-3298-4246-679227FFAB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DE4627-6369-0C13-E551-24E112717F07}"/>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5" name="Footer Placeholder 4">
            <a:extLst>
              <a:ext uri="{FF2B5EF4-FFF2-40B4-BE49-F238E27FC236}">
                <a16:creationId xmlns:a16="http://schemas.microsoft.com/office/drawing/2014/main" id="{159B7EE2-5B2D-4E85-284A-E35071388D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4BBB27-2270-1FB4-20F2-2382C4532757}"/>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2024309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8A563-B408-A6B6-79F5-C1389CCF72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01BFD1-9575-912F-AE12-791CC271C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F62189F-7746-6CD3-8753-5D0C70CF6A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01845B-B691-85A6-A980-E942FF77EB83}"/>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6" name="Footer Placeholder 5">
            <a:extLst>
              <a:ext uri="{FF2B5EF4-FFF2-40B4-BE49-F238E27FC236}">
                <a16:creationId xmlns:a16="http://schemas.microsoft.com/office/drawing/2014/main" id="{12A2C9F6-F5F4-5C6E-BDF8-7F5A587C31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90C1DA-2773-94F3-2B0C-F2A71833330F}"/>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740000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F72B2-5DC2-4E84-4668-1C7B7DA23E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03220B-6D43-404B-5F7F-4ED7DDEAE9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4A0B-7873-3D3B-6CDC-E8EC3076D9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A52342-C45E-EC51-FA1C-436D96E064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BA442B-3ABD-4C12-3A7B-FF1FAA715C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2BEFA3-0A76-9345-C302-3C1263484025}"/>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8" name="Footer Placeholder 7">
            <a:extLst>
              <a:ext uri="{FF2B5EF4-FFF2-40B4-BE49-F238E27FC236}">
                <a16:creationId xmlns:a16="http://schemas.microsoft.com/office/drawing/2014/main" id="{B2EA5BE1-D0F8-A360-EA85-3604BF44CF3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9D1609-6F44-CD53-3C7E-DADF4952ED71}"/>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93960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19D1F-A30A-FF2D-46CA-41E76630F7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FCBDEB-A9D4-8AD6-0E72-820245F55EA2}"/>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4" name="Footer Placeholder 3">
            <a:extLst>
              <a:ext uri="{FF2B5EF4-FFF2-40B4-BE49-F238E27FC236}">
                <a16:creationId xmlns:a16="http://schemas.microsoft.com/office/drawing/2014/main" id="{0C74C3A9-0EC9-2D4F-C41A-7E98FC9B65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DB62FC-73FE-EB18-7687-0ED8C5352045}"/>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1500254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61CEFD-9C31-14E0-2D3C-4C14C12A52FA}"/>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3" name="Footer Placeholder 2">
            <a:extLst>
              <a:ext uri="{FF2B5EF4-FFF2-40B4-BE49-F238E27FC236}">
                <a16:creationId xmlns:a16="http://schemas.microsoft.com/office/drawing/2014/main" id="{22ED08BE-DF96-B9F4-CD10-E34768DC63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4C248F-7D50-D004-5473-3AAD435C073E}"/>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1471003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E9593-A0BA-6B39-D9A0-B04E7BC6B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C9A5C3-778F-58D8-F44D-8118FA0634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BF991B-FDA3-1644-17E1-2C9582E4E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AD98E-D94F-1366-5AB3-B180B0543393}"/>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6" name="Footer Placeholder 5">
            <a:extLst>
              <a:ext uri="{FF2B5EF4-FFF2-40B4-BE49-F238E27FC236}">
                <a16:creationId xmlns:a16="http://schemas.microsoft.com/office/drawing/2014/main" id="{2B1F562D-3204-BB4B-BAB3-9A4F3732C4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FDEA82-1114-D37B-AB81-4C80FCEE28BE}"/>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3037113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959FA-B435-2788-0C02-F47B9D39A8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2855DB-DC38-43C1-56EE-24871CF337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0CC348-EEC9-57D4-9B5B-4075C2162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65622B-B7F4-5B85-8253-A80E0AA9B698}"/>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6" name="Footer Placeholder 5">
            <a:extLst>
              <a:ext uri="{FF2B5EF4-FFF2-40B4-BE49-F238E27FC236}">
                <a16:creationId xmlns:a16="http://schemas.microsoft.com/office/drawing/2014/main" id="{A4092EEB-5D66-01B3-C29D-ABA009FEDC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C1609C-637D-3038-F936-13BF9F07003F}"/>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2050629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C782C-0A80-00C9-AB35-67583247041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42BE7D-DE25-EF01-229A-4976956323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388509-C878-D78E-5330-592E3BF0EFBC}"/>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5" name="Footer Placeholder 4">
            <a:extLst>
              <a:ext uri="{FF2B5EF4-FFF2-40B4-BE49-F238E27FC236}">
                <a16:creationId xmlns:a16="http://schemas.microsoft.com/office/drawing/2014/main" id="{71BED0D0-D040-D6C9-18C1-7464C2FA2B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F9C663-8766-60FE-BCE3-07B193799FB3}"/>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2037363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058D23-F6C8-3A7A-56E6-0DE9368BEF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7AC1E4-B9D4-E4A3-1BEB-273D88DF94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739218-FBDF-14AC-98C9-4EBF0B060262}"/>
              </a:ext>
            </a:extLst>
          </p:cNvPr>
          <p:cNvSpPr>
            <a:spLocks noGrp="1"/>
          </p:cNvSpPr>
          <p:nvPr>
            <p:ph type="dt" sz="half" idx="10"/>
          </p:nvPr>
        </p:nvSpPr>
        <p:spPr/>
        <p:txBody>
          <a:bodyPr/>
          <a:lstStyle/>
          <a:p>
            <a:fld id="{77FD834D-F4DA-4C20-943D-08B04BD6511C}" type="datetimeFigureOut">
              <a:rPr lang="en-IN" smtClean="0"/>
              <a:t>20-04-2026</a:t>
            </a:fld>
            <a:endParaRPr lang="en-IN"/>
          </a:p>
        </p:txBody>
      </p:sp>
      <p:sp>
        <p:nvSpPr>
          <p:cNvPr id="5" name="Footer Placeholder 4">
            <a:extLst>
              <a:ext uri="{FF2B5EF4-FFF2-40B4-BE49-F238E27FC236}">
                <a16:creationId xmlns:a16="http://schemas.microsoft.com/office/drawing/2014/main" id="{8238792B-2C58-6128-46EF-A30FC2112D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A1E442-CAAF-C0EF-F0F0-05AC044A5A23}"/>
              </a:ext>
            </a:extLst>
          </p:cNvPr>
          <p:cNvSpPr>
            <a:spLocks noGrp="1"/>
          </p:cNvSpPr>
          <p:nvPr>
            <p:ph type="sldNum" sz="quarter" idx="12"/>
          </p:nvPr>
        </p:nvSpPr>
        <p:spPr/>
        <p:txBody>
          <a:bodyPr/>
          <a:lstStyle/>
          <a:p>
            <a:fld id="{1A7DE9D1-AB24-4C87-8F91-60ACED5CE8BE}" type="slidenum">
              <a:rPr lang="en-IN" smtClean="0"/>
              <a:t>‹#›</a:t>
            </a:fld>
            <a:endParaRPr lang="en-IN"/>
          </a:p>
        </p:txBody>
      </p:sp>
    </p:spTree>
    <p:extLst>
      <p:ext uri="{BB962C8B-B14F-4D97-AF65-F5344CB8AC3E}">
        <p14:creationId xmlns:p14="http://schemas.microsoft.com/office/powerpoint/2010/main" val="3728178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29E6B6-7AC8-73E4-ADAD-3D6D4A26A1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D7EB84-4406-4B52-10AD-B1753B0BA6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EA3C6F-0F78-6DDB-DA61-864ED0A8D9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FD834D-F4DA-4C20-943D-08B04BD6511C}" type="datetimeFigureOut">
              <a:rPr lang="en-IN" smtClean="0"/>
              <a:t>20-04-2026</a:t>
            </a:fld>
            <a:endParaRPr lang="en-IN"/>
          </a:p>
        </p:txBody>
      </p:sp>
      <p:sp>
        <p:nvSpPr>
          <p:cNvPr id="5" name="Footer Placeholder 4">
            <a:extLst>
              <a:ext uri="{FF2B5EF4-FFF2-40B4-BE49-F238E27FC236}">
                <a16:creationId xmlns:a16="http://schemas.microsoft.com/office/drawing/2014/main" id="{7893272C-6C60-556A-BFFD-0F193A2180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0B21BA3-7BA4-D2AC-9FC1-15A6FD0D18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DE9D1-AB24-4C87-8F91-60ACED5CE8BE}" type="slidenum">
              <a:rPr lang="en-IN" smtClean="0"/>
              <a:t>‹#›</a:t>
            </a:fld>
            <a:endParaRPr lang="en-IN"/>
          </a:p>
        </p:txBody>
      </p:sp>
    </p:spTree>
    <p:extLst>
      <p:ext uri="{BB962C8B-B14F-4D97-AF65-F5344CB8AC3E}">
        <p14:creationId xmlns:p14="http://schemas.microsoft.com/office/powerpoint/2010/main" val="320975523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127F0-7ABA-9451-96D4-41DE921F3918}"/>
              </a:ext>
            </a:extLst>
          </p:cNvPr>
          <p:cNvSpPr>
            <a:spLocks noGrp="1"/>
          </p:cNvSpPr>
          <p:nvPr>
            <p:ph type="ctrTitle"/>
          </p:nvPr>
        </p:nvSpPr>
        <p:spPr>
          <a:xfrm>
            <a:off x="363415" y="3202455"/>
            <a:ext cx="11699078" cy="976964"/>
          </a:xfrm>
          <a:effectLst>
            <a:outerShdw blurRad="50800" dist="38100" dir="2700000" algn="tl" rotWithShape="0">
              <a:prstClr val="black">
                <a:alpha val="40000"/>
              </a:prstClr>
            </a:outerShdw>
          </a:effectLst>
        </p:spPr>
        <p:txBody>
          <a:bodyPr>
            <a:noAutofit/>
          </a:bodyPr>
          <a:lstStyle/>
          <a:p>
            <a:r>
              <a:rPr lang="en-GB" sz="2800" b="1" dirty="0">
                <a:solidFill>
                  <a:schemeClr val="accent1">
                    <a:lumMod val="50000"/>
                  </a:schemeClr>
                </a:solidFill>
                <a:latin typeface="Times New Roman"/>
                <a:cs typeface="Times New Roman"/>
              </a:rPr>
              <a:t>EDGE-AI ENABLED IOT ARCHITECTURE FOR EARLY FIRE DETECTION IN SMART AGRICULTURE</a:t>
            </a:r>
            <a:endParaRPr lang="en-IN" sz="2800" b="1" dirty="0">
              <a:solidFill>
                <a:schemeClr val="accent1">
                  <a:lumMod val="50000"/>
                </a:schemeClr>
              </a:solidFill>
              <a:latin typeface="Times New Roman"/>
              <a:cs typeface="Times New Roman"/>
            </a:endParaRPr>
          </a:p>
        </p:txBody>
      </p:sp>
      <p:sp>
        <p:nvSpPr>
          <p:cNvPr id="3" name="Subtitle 2">
            <a:extLst>
              <a:ext uri="{FF2B5EF4-FFF2-40B4-BE49-F238E27FC236}">
                <a16:creationId xmlns:a16="http://schemas.microsoft.com/office/drawing/2014/main" id="{D08BD32A-F152-2A1D-6C18-C07578F58B3C}"/>
              </a:ext>
            </a:extLst>
          </p:cNvPr>
          <p:cNvSpPr>
            <a:spLocks noGrp="1"/>
          </p:cNvSpPr>
          <p:nvPr>
            <p:ph type="subTitle" idx="1"/>
          </p:nvPr>
        </p:nvSpPr>
        <p:spPr>
          <a:xfrm>
            <a:off x="984429" y="4300264"/>
            <a:ext cx="3339921" cy="1999538"/>
          </a:xfrm>
        </p:spPr>
        <p:txBody>
          <a:bodyPr vert="horz" lIns="91440" tIns="45720" rIns="91440" bIns="45720" rtlCol="0" anchor="t">
            <a:noAutofit/>
          </a:bodyPr>
          <a:lstStyle/>
          <a:p>
            <a:pPr algn="l"/>
            <a:r>
              <a:rPr lang="en-IN" b="1" dirty="0">
                <a:latin typeface="Times New Roman"/>
                <a:cs typeface="Times New Roman"/>
              </a:rPr>
              <a:t>Under the Guidance of</a:t>
            </a:r>
          </a:p>
          <a:p>
            <a:pPr algn="l"/>
            <a:r>
              <a:rPr lang="en-IN" dirty="0">
                <a:latin typeface="Times New Roman"/>
                <a:cs typeface="Times New Roman"/>
              </a:rPr>
              <a:t>Mr. </a:t>
            </a:r>
            <a:r>
              <a:rPr lang="en-IN" dirty="0" err="1">
                <a:latin typeface="Times New Roman"/>
                <a:cs typeface="Times New Roman"/>
              </a:rPr>
              <a:t>H.Sudhakar</a:t>
            </a:r>
            <a:r>
              <a:rPr lang="en-IN" dirty="0">
                <a:latin typeface="Times New Roman"/>
                <a:cs typeface="Times New Roman"/>
              </a:rPr>
              <a:t> </a:t>
            </a:r>
            <a:r>
              <a:rPr lang="en-IN" dirty="0" err="1">
                <a:solidFill>
                  <a:schemeClr val="tx1">
                    <a:lumMod val="65000"/>
                    <a:lumOff val="35000"/>
                  </a:schemeClr>
                </a:solidFill>
                <a:latin typeface="Times New Roman"/>
                <a:cs typeface="Times New Roman"/>
              </a:rPr>
              <a:t>M.Tech</a:t>
            </a:r>
            <a:r>
              <a:rPr lang="en-IN" dirty="0">
                <a:solidFill>
                  <a:schemeClr val="tx1">
                    <a:lumMod val="65000"/>
                    <a:lumOff val="35000"/>
                  </a:schemeClr>
                </a:solidFill>
                <a:latin typeface="Times New Roman"/>
                <a:cs typeface="Times New Roman"/>
              </a:rPr>
              <a:t>,(</a:t>
            </a:r>
            <a:r>
              <a:rPr lang="en-IN" dirty="0" err="1">
                <a:solidFill>
                  <a:schemeClr val="tx1">
                    <a:lumMod val="65000"/>
                    <a:lumOff val="35000"/>
                  </a:schemeClr>
                </a:solidFill>
                <a:latin typeface="Times New Roman"/>
                <a:cs typeface="Times New Roman"/>
              </a:rPr>
              <a:t>Ph.D</a:t>
            </a:r>
            <a:r>
              <a:rPr lang="en-IN" dirty="0">
                <a:solidFill>
                  <a:schemeClr val="tx1">
                    <a:lumMod val="65000"/>
                    <a:lumOff val="35000"/>
                  </a:schemeClr>
                </a:solidFill>
                <a:latin typeface="Times New Roman"/>
                <a:cs typeface="Times New Roman"/>
              </a:rPr>
              <a:t>)</a:t>
            </a:r>
          </a:p>
          <a:p>
            <a:pPr algn="l">
              <a:lnSpc>
                <a:spcPct val="100000"/>
              </a:lnSpc>
              <a:spcBef>
                <a:spcPts val="0"/>
              </a:spcBef>
            </a:pPr>
            <a:r>
              <a:rPr lang="en-IN" dirty="0">
                <a:solidFill>
                  <a:schemeClr val="tx1">
                    <a:lumMod val="75000"/>
                    <a:lumOff val="25000"/>
                  </a:schemeClr>
                </a:solidFill>
                <a:latin typeface="Times New Roman"/>
                <a:cs typeface="Times New Roman"/>
              </a:rPr>
              <a:t>Assistant Professor</a:t>
            </a:r>
          </a:p>
          <a:p>
            <a:pPr algn="l">
              <a:lnSpc>
                <a:spcPct val="100000"/>
              </a:lnSpc>
              <a:spcBef>
                <a:spcPts val="0"/>
              </a:spcBef>
            </a:pPr>
            <a:r>
              <a:rPr lang="en-IN" dirty="0" err="1" smtClean="0">
                <a:solidFill>
                  <a:schemeClr val="tx1">
                    <a:lumMod val="75000"/>
                    <a:lumOff val="25000"/>
                  </a:schemeClr>
                </a:solidFill>
                <a:latin typeface="Times New Roman"/>
                <a:cs typeface="Times New Roman"/>
              </a:rPr>
              <a:t>Dept</a:t>
            </a:r>
            <a:r>
              <a:rPr lang="en-IN" dirty="0" smtClean="0">
                <a:solidFill>
                  <a:schemeClr val="tx1">
                    <a:lumMod val="75000"/>
                    <a:lumOff val="25000"/>
                  </a:schemeClr>
                </a:solidFill>
                <a:latin typeface="Times New Roman"/>
                <a:cs typeface="Times New Roman"/>
              </a:rPr>
              <a:t> </a:t>
            </a:r>
            <a:r>
              <a:rPr lang="en-IN" dirty="0">
                <a:solidFill>
                  <a:schemeClr val="tx1">
                    <a:lumMod val="75000"/>
                    <a:lumOff val="25000"/>
                  </a:schemeClr>
                </a:solidFill>
                <a:latin typeface="Times New Roman"/>
                <a:cs typeface="Times New Roman"/>
              </a:rPr>
              <a:t>of ECE</a:t>
            </a:r>
          </a:p>
        </p:txBody>
      </p:sp>
      <p:sp>
        <p:nvSpPr>
          <p:cNvPr id="5" name="TextBox 4">
            <a:extLst>
              <a:ext uri="{FF2B5EF4-FFF2-40B4-BE49-F238E27FC236}">
                <a16:creationId xmlns:a16="http://schemas.microsoft.com/office/drawing/2014/main" id="{828E4C38-DF97-90E2-D6F7-333C776C2E95}"/>
              </a:ext>
            </a:extLst>
          </p:cNvPr>
          <p:cNvSpPr txBox="1"/>
          <p:nvPr/>
        </p:nvSpPr>
        <p:spPr>
          <a:xfrm>
            <a:off x="5886450" y="4179419"/>
            <a:ext cx="5833875" cy="2492990"/>
          </a:xfrm>
          <a:prstGeom prst="rect">
            <a:avLst/>
          </a:prstGeom>
          <a:noFill/>
        </p:spPr>
        <p:txBody>
          <a:bodyPr wrap="square" lIns="91440" tIns="45720" rIns="91440" bIns="45720" rtlCol="0" anchor="t">
            <a:spAutoFit/>
          </a:bodyPr>
          <a:lstStyle/>
          <a:p>
            <a:pPr>
              <a:lnSpc>
                <a:spcPct val="150000"/>
              </a:lnSpc>
            </a:pPr>
            <a:r>
              <a:rPr lang="en-IN" sz="2400" b="1" dirty="0">
                <a:latin typeface="Times New Roman"/>
                <a:cs typeface="Times New Roman"/>
              </a:rPr>
              <a:t>Presented by</a:t>
            </a:r>
            <a:endParaRPr lang="en-IN" sz="2400" i="1" dirty="0">
              <a:latin typeface="Times New Roman"/>
              <a:cs typeface="Times New Roman"/>
            </a:endParaRPr>
          </a:p>
          <a:p>
            <a:r>
              <a:rPr lang="en-IN" sz="2400" dirty="0" err="1">
                <a:latin typeface="Times New Roman"/>
                <a:cs typeface="Times New Roman"/>
              </a:rPr>
              <a:t>G.Tanuja</a:t>
            </a:r>
            <a:r>
              <a:rPr lang="en-IN" sz="2400" dirty="0">
                <a:latin typeface="Times New Roman"/>
                <a:cs typeface="Times New Roman"/>
              </a:rPr>
              <a:t> Sai Swathi               (22B81A0452)</a:t>
            </a:r>
          </a:p>
          <a:p>
            <a:r>
              <a:rPr lang="en-IN" sz="2400" dirty="0" err="1">
                <a:latin typeface="Times New Roman"/>
                <a:cs typeface="Times New Roman"/>
              </a:rPr>
              <a:t>B.Sri</a:t>
            </a:r>
            <a:r>
              <a:rPr lang="en-IN" sz="2400" dirty="0">
                <a:latin typeface="Times New Roman"/>
                <a:cs typeface="Times New Roman"/>
              </a:rPr>
              <a:t> Rajendra                        (22B81A0422)</a:t>
            </a:r>
          </a:p>
          <a:p>
            <a:r>
              <a:rPr lang="en-IN" sz="2400" dirty="0" err="1">
                <a:latin typeface="Times New Roman"/>
                <a:cs typeface="Times New Roman"/>
              </a:rPr>
              <a:t>Ch.Raj</a:t>
            </a:r>
            <a:r>
              <a:rPr lang="en-IN" sz="2400" dirty="0">
                <a:latin typeface="Times New Roman"/>
                <a:cs typeface="Times New Roman"/>
              </a:rPr>
              <a:t> Kumar                        (22B81A0426)</a:t>
            </a:r>
          </a:p>
          <a:p>
            <a:r>
              <a:rPr lang="en-IN" sz="2400" dirty="0" err="1">
                <a:latin typeface="Times New Roman"/>
                <a:cs typeface="Times New Roman"/>
              </a:rPr>
              <a:t>D.Ajay</a:t>
            </a:r>
            <a:r>
              <a:rPr lang="en-IN" sz="2400" dirty="0">
                <a:latin typeface="Times New Roman"/>
                <a:cs typeface="Times New Roman"/>
              </a:rPr>
              <a:t>                                    (22B81A0441)</a:t>
            </a:r>
          </a:p>
          <a:p>
            <a:r>
              <a:rPr lang="en-IN" sz="2400" dirty="0" err="1">
                <a:latin typeface="Times New Roman"/>
                <a:cs typeface="Times New Roman"/>
              </a:rPr>
              <a:t>B.Ramesh</a:t>
            </a:r>
            <a:r>
              <a:rPr lang="en-IN" sz="2400" dirty="0">
                <a:latin typeface="Times New Roman"/>
                <a:cs typeface="Times New Roman"/>
              </a:rPr>
              <a:t>                               (22B81A0420)</a:t>
            </a:r>
          </a:p>
        </p:txBody>
      </p:sp>
      <p:sp>
        <p:nvSpPr>
          <p:cNvPr id="4" name="TextBox 3">
            <a:extLst>
              <a:ext uri="{FF2B5EF4-FFF2-40B4-BE49-F238E27FC236}">
                <a16:creationId xmlns:a16="http://schemas.microsoft.com/office/drawing/2014/main" id="{28F1B9A6-74EA-EAA4-0973-A9FC45B99E46}"/>
              </a:ext>
            </a:extLst>
          </p:cNvPr>
          <p:cNvSpPr txBox="1"/>
          <p:nvPr/>
        </p:nvSpPr>
        <p:spPr>
          <a:xfrm>
            <a:off x="553182" y="2830707"/>
            <a:ext cx="11319543"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DEPARTMENT OF ELECTRONICS AND COMMUNICATION ENGINEERING</a:t>
            </a:r>
          </a:p>
        </p:txBody>
      </p:sp>
      <p:pic>
        <p:nvPicPr>
          <p:cNvPr id="6" name="Picture 5">
            <a:extLst>
              <a:ext uri="{FF2B5EF4-FFF2-40B4-BE49-F238E27FC236}">
                <a16:creationId xmlns:a16="http://schemas.microsoft.com/office/drawing/2014/main" id="{FA8821B0-26D1-4062-C018-B5413F770092}"/>
              </a:ext>
            </a:extLst>
          </p:cNvPr>
          <p:cNvPicPr>
            <a:picLocks noChangeAspect="1"/>
          </p:cNvPicPr>
          <p:nvPr/>
        </p:nvPicPr>
        <p:blipFill>
          <a:blip r:embed="rId2">
            <a:alphaModFix/>
          </a:blip>
          <a:stretch>
            <a:fillRect/>
          </a:stretch>
        </p:blipFill>
        <p:spPr>
          <a:xfrm>
            <a:off x="5382295" y="1185581"/>
            <a:ext cx="1380514" cy="1432838"/>
          </a:xfrm>
          <a:prstGeom prst="rect">
            <a:avLst/>
          </a:prstGeom>
          <a:noFill/>
          <a:ln>
            <a:noFill/>
          </a:ln>
        </p:spPr>
        <p:style>
          <a:lnRef idx="0">
            <a:scrgbClr r="0" g="0" b="0"/>
          </a:lnRef>
          <a:fillRef idx="0">
            <a:scrgbClr r="0" g="0" b="0"/>
          </a:fillRef>
          <a:effectRef idx="0">
            <a:scrgbClr r="0" g="0" b="0"/>
          </a:effectRef>
          <a:fontRef idx="minor">
            <a:schemeClr val="accent2"/>
          </a:fontRef>
        </p:style>
      </p:pic>
      <p:sp>
        <p:nvSpPr>
          <p:cNvPr id="7" name="TextBox 6">
            <a:extLst>
              <a:ext uri="{FF2B5EF4-FFF2-40B4-BE49-F238E27FC236}">
                <a16:creationId xmlns:a16="http://schemas.microsoft.com/office/drawing/2014/main" id="{1E0CA627-428A-6E43-75C7-A018DAFC4310}"/>
              </a:ext>
            </a:extLst>
          </p:cNvPr>
          <p:cNvSpPr txBox="1"/>
          <p:nvPr/>
        </p:nvSpPr>
        <p:spPr>
          <a:xfrm>
            <a:off x="-467244" y="527017"/>
            <a:ext cx="11699077" cy="584775"/>
          </a:xfrm>
          <a:prstGeom prst="rect">
            <a:avLst/>
          </a:prstGeom>
          <a:noFill/>
        </p:spPr>
        <p:txBody>
          <a:bodyPr wrap="square" rtlCol="0">
            <a:spAutoFit/>
          </a:bodyPr>
          <a:lstStyle/>
          <a:p>
            <a:pPr algn="ctr"/>
            <a:r>
              <a:rPr lang="en-IN" sz="3200" dirty="0"/>
              <a:t>	         </a:t>
            </a:r>
            <a:r>
              <a:rPr lang="en-IN" sz="3200" b="1" dirty="0">
                <a:solidFill>
                  <a:srgbClr val="FF0000"/>
                </a:solidFill>
                <a:latin typeface="Times New Roman" panose="02020603050405020304" pitchFamily="18" charset="0"/>
                <a:cs typeface="Times New Roman" panose="02020603050405020304" pitchFamily="18" charset="0"/>
              </a:rPr>
              <a:t>SIR C R REDDY COLLEGE OF ENGINEERING</a:t>
            </a:r>
          </a:p>
        </p:txBody>
      </p:sp>
    </p:spTree>
    <p:extLst>
      <p:ext uri="{BB962C8B-B14F-4D97-AF65-F5344CB8AC3E}">
        <p14:creationId xmlns:p14="http://schemas.microsoft.com/office/powerpoint/2010/main" val="30444716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625E8-FC3C-DC34-5B3A-CE17D5BABEEC}"/>
              </a:ext>
            </a:extLst>
          </p:cNvPr>
          <p:cNvSpPr>
            <a:spLocks noGrp="1"/>
          </p:cNvSpPr>
          <p:nvPr>
            <p:ph type="title"/>
          </p:nvPr>
        </p:nvSpPr>
        <p:spPr>
          <a:xfrm>
            <a:off x="1548063" y="162279"/>
            <a:ext cx="3067050" cy="894639"/>
          </a:xfrm>
        </p:spPr>
        <p:txBody>
          <a:bodyPr>
            <a:noAutofit/>
          </a:bodyPr>
          <a:lstStyle/>
          <a:p>
            <a:pPr algn="ctr"/>
            <a:r>
              <a:rPr lang="en-IN" sz="3600" b="1" spc="300"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824A58E5-4CAD-31DA-B137-5D5FECFBA862}"/>
              </a:ext>
            </a:extLst>
          </p:cNvPr>
          <p:cNvSpPr>
            <a:spLocks noGrp="1"/>
          </p:cNvSpPr>
          <p:nvPr>
            <p:ph idx="1"/>
          </p:nvPr>
        </p:nvSpPr>
        <p:spPr>
          <a:xfrm>
            <a:off x="1318261" y="1470621"/>
            <a:ext cx="4591652" cy="4651046"/>
          </a:xfrm>
        </p:spPr>
        <p:txBody>
          <a:bodyPr vert="horz" lIns="91440" tIns="45720" rIns="91440" bIns="45720" rtlCol="0" anchor="t">
            <a:noAutofit/>
          </a:bodyPr>
          <a:lstStyle/>
          <a:p>
            <a:pPr marL="342900" indent="-342900" algn="just">
              <a:lnSpc>
                <a:spcPct val="110000"/>
              </a:lnSpc>
              <a:buFont typeface="Calibri Light" panose="020F0302020204030204"/>
              <a:buAutoNum type="arabicPeriod"/>
            </a:pPr>
            <a:r>
              <a:rPr lang="en-IN" sz="2000" b="1" dirty="0">
                <a:latin typeface="Times New Roman"/>
                <a:ea typeface="+mn-lt"/>
                <a:cs typeface="Times New Roman"/>
              </a:rPr>
              <a:t>Introduction			</a:t>
            </a:r>
            <a:endParaRPr lang="en-IN" sz="2000" b="1" dirty="0">
              <a:latin typeface="Times New Roman" panose="02020603050405020304" pitchFamily="18" charset="0"/>
              <a:ea typeface="+mn-lt"/>
              <a:cs typeface="Times New Roman" panose="02020603050405020304" pitchFamily="18" charset="0"/>
            </a:endParaRPr>
          </a:p>
          <a:p>
            <a:pPr marL="342900" indent="-342900" algn="just">
              <a:lnSpc>
                <a:spcPct val="110000"/>
              </a:lnSpc>
              <a:buAutoNum type="arabicPeriod"/>
            </a:pPr>
            <a:r>
              <a:rPr lang="en-GB" sz="2000" b="1" dirty="0">
                <a:latin typeface="Times New Roman"/>
                <a:ea typeface="Calibri"/>
                <a:cs typeface="Times New Roman"/>
              </a:rPr>
              <a:t>Problem</a:t>
            </a:r>
            <a:r>
              <a:rPr lang="en-IN" sz="2000" b="1" dirty="0">
                <a:latin typeface="Times New Roman"/>
                <a:ea typeface="Calibri"/>
                <a:cs typeface="Times New Roman"/>
              </a:rPr>
              <a:t> Statement                                  </a:t>
            </a:r>
          </a:p>
          <a:p>
            <a:pPr marL="342900" indent="-342900" algn="just">
              <a:lnSpc>
                <a:spcPct val="110000"/>
              </a:lnSpc>
              <a:buAutoNum type="arabicPeriod"/>
            </a:pPr>
            <a:r>
              <a:rPr lang="en-IN" sz="2000" b="1" dirty="0">
                <a:latin typeface="Times New Roman"/>
                <a:ea typeface="Calibri"/>
                <a:cs typeface="Times New Roman"/>
              </a:rPr>
              <a:t>Objectives</a:t>
            </a:r>
          </a:p>
          <a:p>
            <a:pPr marL="342900" indent="-342900" algn="just">
              <a:lnSpc>
                <a:spcPct val="110000"/>
              </a:lnSpc>
              <a:buAutoNum type="arabicPeriod"/>
            </a:pPr>
            <a:r>
              <a:rPr lang="en-IN" sz="2000" b="1" dirty="0">
                <a:latin typeface="Times New Roman"/>
                <a:ea typeface="Calibri"/>
                <a:cs typeface="Times New Roman"/>
              </a:rPr>
              <a:t>Literature </a:t>
            </a:r>
            <a:r>
              <a:rPr lang="en-IN" sz="2000" b="1" dirty="0" smtClean="0">
                <a:latin typeface="Times New Roman"/>
                <a:ea typeface="Calibri"/>
                <a:cs typeface="Times New Roman"/>
              </a:rPr>
              <a:t>Survey</a:t>
            </a:r>
          </a:p>
          <a:p>
            <a:pPr marL="342900" indent="-342900" algn="just">
              <a:lnSpc>
                <a:spcPct val="110000"/>
              </a:lnSpc>
              <a:buAutoNum type="arabicPeriod"/>
            </a:pPr>
            <a:r>
              <a:rPr lang="en-IN" sz="2000" b="1" dirty="0" smtClean="0">
                <a:latin typeface="Times New Roman"/>
                <a:ea typeface="Calibri"/>
                <a:cs typeface="Times New Roman"/>
              </a:rPr>
              <a:t>Existing Methodology</a:t>
            </a:r>
          </a:p>
          <a:p>
            <a:pPr marL="342900" indent="-342900" algn="just">
              <a:lnSpc>
                <a:spcPct val="110000"/>
              </a:lnSpc>
              <a:buAutoNum type="arabicPeriod"/>
            </a:pPr>
            <a:r>
              <a:rPr lang="en-IN" sz="2000" b="1" dirty="0" smtClean="0">
                <a:latin typeface="Times New Roman"/>
                <a:ea typeface="Calibri"/>
                <a:cs typeface="Times New Roman"/>
              </a:rPr>
              <a:t>Designed Methodology</a:t>
            </a:r>
          </a:p>
          <a:p>
            <a:pPr marL="342900" indent="-342900" algn="just">
              <a:lnSpc>
                <a:spcPct val="110000"/>
              </a:lnSpc>
              <a:buAutoNum type="arabicPeriod"/>
            </a:pPr>
            <a:r>
              <a:rPr lang="en-IN" sz="2000" b="1" dirty="0" smtClean="0">
                <a:latin typeface="Times New Roman"/>
                <a:ea typeface="Calibri"/>
                <a:cs typeface="Times New Roman"/>
              </a:rPr>
              <a:t>Block Diagram</a:t>
            </a:r>
            <a:endParaRPr lang="en-IN" sz="2000" b="1" dirty="0">
              <a:latin typeface="Times New Roman"/>
              <a:ea typeface="Calibri"/>
              <a:cs typeface="Times New Roman"/>
            </a:endParaRPr>
          </a:p>
          <a:p>
            <a:pPr marL="342900" indent="-342900" algn="just">
              <a:lnSpc>
                <a:spcPct val="110000"/>
              </a:lnSpc>
              <a:buAutoNum type="arabicPeriod"/>
            </a:pPr>
            <a:r>
              <a:rPr lang="en-IN" sz="2000" b="1" dirty="0" smtClean="0">
                <a:latin typeface="Times New Roman"/>
                <a:ea typeface="Calibri"/>
                <a:cs typeface="Times New Roman"/>
              </a:rPr>
              <a:t>Materials</a:t>
            </a:r>
            <a:endParaRPr lang="en-IN" sz="2000" b="1" dirty="0">
              <a:latin typeface="Times New Roman"/>
              <a:ea typeface="Calibri"/>
              <a:cs typeface="Times New Roman"/>
            </a:endParaRPr>
          </a:p>
          <a:p>
            <a:pPr marL="342900" indent="-342900" algn="just">
              <a:lnSpc>
                <a:spcPct val="110000"/>
              </a:lnSpc>
              <a:buFont typeface="Arial" panose="020B0604020202020204" pitchFamily="34" charset="0"/>
              <a:buAutoNum type="arabicPeriod"/>
            </a:pPr>
            <a:r>
              <a:rPr lang="en-IN" sz="2000" b="1" dirty="0" smtClean="0">
                <a:latin typeface="Times New Roman"/>
                <a:ea typeface="Calibri"/>
                <a:cs typeface="Times New Roman"/>
              </a:rPr>
              <a:t>Working</a:t>
            </a:r>
          </a:p>
          <a:p>
            <a:pPr marL="342900" indent="-342900" algn="just">
              <a:lnSpc>
                <a:spcPct val="110000"/>
              </a:lnSpc>
              <a:buFont typeface="Arial" panose="020B0604020202020204" pitchFamily="34" charset="0"/>
              <a:buAutoNum type="arabicPeriod"/>
            </a:pPr>
            <a:r>
              <a:rPr lang="en-IN" sz="2000" b="1" dirty="0" smtClean="0">
                <a:latin typeface="Times New Roman"/>
                <a:ea typeface="Calibri"/>
                <a:cs typeface="Times New Roman"/>
              </a:rPr>
              <a:t>Prototype</a:t>
            </a:r>
          </a:p>
        </p:txBody>
      </p:sp>
      <p:sp>
        <p:nvSpPr>
          <p:cNvPr id="5" name="TextBox 4"/>
          <p:cNvSpPr txBox="1"/>
          <p:nvPr/>
        </p:nvSpPr>
        <p:spPr>
          <a:xfrm>
            <a:off x="1433763" y="354785"/>
            <a:ext cx="3295650" cy="923330"/>
          </a:xfrm>
          <a:prstGeom prst="rect">
            <a:avLst/>
          </a:prstGeom>
          <a:noFill/>
        </p:spPr>
        <p:txBody>
          <a:bodyPr wrap="square" rtlCol="0">
            <a:spAutoFit/>
          </a:bodyPr>
          <a:lstStyle/>
          <a:p>
            <a:r>
              <a:rPr lang="en-GB" sz="5400" b="1" u="sng" dirty="0">
                <a:solidFill>
                  <a:schemeClr val="accent2"/>
                </a:solidFill>
              </a:rPr>
              <a:t>_________</a:t>
            </a:r>
            <a:endParaRPr lang="en-IN" sz="5400" b="1" u="sng" dirty="0">
              <a:solidFill>
                <a:schemeClr val="accent2"/>
              </a:solidFill>
            </a:endParaRPr>
          </a:p>
        </p:txBody>
      </p:sp>
      <p:sp>
        <p:nvSpPr>
          <p:cNvPr id="4" name="TextBox 3"/>
          <p:cNvSpPr txBox="1"/>
          <p:nvPr/>
        </p:nvSpPr>
        <p:spPr>
          <a:xfrm>
            <a:off x="5505649" y="1366787"/>
            <a:ext cx="4803008" cy="4708981"/>
          </a:xfrm>
          <a:prstGeom prst="rect">
            <a:avLst/>
          </a:prstGeom>
          <a:noFill/>
        </p:spPr>
        <p:txBody>
          <a:bodyPr wrap="square" rtlCol="0">
            <a:spAutoFit/>
          </a:bodyPr>
          <a:lstStyle/>
          <a:p>
            <a:pPr marL="342900" indent="-342900">
              <a:lnSpc>
                <a:spcPct val="150000"/>
              </a:lnSpc>
              <a:buFont typeface="+mj-lt"/>
              <a:buAutoNum type="arabicPeriod" startAt="11"/>
            </a:pPr>
            <a:r>
              <a:rPr lang="en-IN" sz="2000" b="1" dirty="0" smtClean="0">
                <a:latin typeface="Times New Roman"/>
                <a:ea typeface="Calibri"/>
                <a:cs typeface="Times New Roman"/>
              </a:rPr>
              <a:t>Implementation Details</a:t>
            </a:r>
          </a:p>
          <a:p>
            <a:pPr marL="342900" indent="-342900">
              <a:lnSpc>
                <a:spcPct val="150000"/>
              </a:lnSpc>
              <a:buFont typeface="Arial" panose="020B0604020202020204" pitchFamily="34" charset="0"/>
              <a:buAutoNum type="arabicPeriod" startAt="11"/>
            </a:pPr>
            <a:r>
              <a:rPr lang="en-IN" sz="2000" b="1" dirty="0" smtClean="0">
                <a:latin typeface="Times New Roman"/>
                <a:ea typeface="Calibri"/>
                <a:cs typeface="Times New Roman"/>
              </a:rPr>
              <a:t>Key </a:t>
            </a:r>
            <a:r>
              <a:rPr lang="en-IN" sz="2000" b="1" dirty="0">
                <a:latin typeface="Times New Roman"/>
                <a:ea typeface="Calibri"/>
                <a:cs typeface="Times New Roman"/>
              </a:rPr>
              <a:t>Observations</a:t>
            </a:r>
          </a:p>
          <a:p>
            <a:pPr marL="342900" indent="-342900">
              <a:lnSpc>
                <a:spcPct val="150000"/>
              </a:lnSpc>
              <a:buFont typeface="Arial" panose="020B0604020202020204" pitchFamily="34" charset="0"/>
              <a:buAutoNum type="arabicPeriod" startAt="11"/>
            </a:pPr>
            <a:r>
              <a:rPr lang="en-IN" sz="2000" b="1" dirty="0" smtClean="0">
                <a:latin typeface="Times New Roman"/>
                <a:ea typeface="Calibri"/>
                <a:cs typeface="Times New Roman"/>
              </a:rPr>
              <a:t>Key </a:t>
            </a:r>
            <a:r>
              <a:rPr lang="en-IN" sz="2000" b="1" dirty="0">
                <a:latin typeface="Times New Roman"/>
                <a:ea typeface="Calibri"/>
                <a:cs typeface="Times New Roman"/>
              </a:rPr>
              <a:t>Differences</a:t>
            </a:r>
          </a:p>
          <a:p>
            <a:pPr marL="342900" indent="-342900">
              <a:lnSpc>
                <a:spcPct val="150000"/>
              </a:lnSpc>
              <a:buAutoNum type="arabicPeriod" startAt="11"/>
            </a:pPr>
            <a:r>
              <a:rPr lang="en-IN" sz="2000" b="1" dirty="0">
                <a:latin typeface="Times New Roman"/>
                <a:ea typeface="Calibri"/>
                <a:cs typeface="Times New Roman"/>
              </a:rPr>
              <a:t>Results and Discussion</a:t>
            </a:r>
            <a:endParaRPr lang="en-US" sz="2000" b="1" dirty="0">
              <a:latin typeface="Times New Roman"/>
              <a:ea typeface="Calibri"/>
              <a:cs typeface="Times New Roman"/>
            </a:endParaRPr>
          </a:p>
          <a:p>
            <a:pPr marL="342900" indent="-342900">
              <a:lnSpc>
                <a:spcPct val="150000"/>
              </a:lnSpc>
              <a:buAutoNum type="arabicPeriod" startAt="11"/>
            </a:pPr>
            <a:r>
              <a:rPr lang="en-US" sz="2000" b="1" dirty="0">
                <a:latin typeface="Times New Roman"/>
                <a:ea typeface="Calibri"/>
                <a:cs typeface="Times New Roman"/>
              </a:rPr>
              <a:t>Limitations of Existing Methodology</a:t>
            </a:r>
          </a:p>
          <a:p>
            <a:pPr marL="342900" indent="-342900">
              <a:lnSpc>
                <a:spcPct val="150000"/>
              </a:lnSpc>
              <a:buAutoNum type="arabicPeriod" startAt="11"/>
            </a:pPr>
            <a:r>
              <a:rPr lang="en-US" sz="2000" b="1" dirty="0" smtClean="0">
                <a:latin typeface="Times New Roman"/>
                <a:ea typeface="Calibri"/>
                <a:cs typeface="Times New Roman"/>
              </a:rPr>
              <a:t>Key Advantages </a:t>
            </a:r>
            <a:r>
              <a:rPr lang="en-US" sz="2000" b="1" dirty="0">
                <a:latin typeface="Times New Roman"/>
                <a:ea typeface="Calibri"/>
                <a:cs typeface="Times New Roman"/>
              </a:rPr>
              <a:t>of Proposed System</a:t>
            </a:r>
          </a:p>
          <a:p>
            <a:pPr marL="342900" indent="-342900">
              <a:lnSpc>
                <a:spcPct val="150000"/>
              </a:lnSpc>
              <a:buAutoNum type="arabicPeriod" startAt="11"/>
            </a:pPr>
            <a:r>
              <a:rPr lang="en-GB" sz="2000" b="1" dirty="0">
                <a:latin typeface="Times New Roman"/>
                <a:ea typeface="Calibri"/>
                <a:cs typeface="Times New Roman"/>
              </a:rPr>
              <a:t>Python </a:t>
            </a:r>
            <a:r>
              <a:rPr lang="en-GB" sz="2000" b="1" dirty="0" smtClean="0">
                <a:latin typeface="Times New Roman"/>
                <a:ea typeface="Calibri"/>
                <a:cs typeface="Times New Roman"/>
              </a:rPr>
              <a:t>Code</a:t>
            </a:r>
          </a:p>
          <a:p>
            <a:pPr marL="342900" indent="-342900">
              <a:lnSpc>
                <a:spcPct val="150000"/>
              </a:lnSpc>
              <a:buAutoNum type="arabicPeriod" startAt="11"/>
            </a:pPr>
            <a:r>
              <a:rPr lang="en-GB" sz="2000" b="1" dirty="0" smtClean="0">
                <a:latin typeface="Times New Roman"/>
                <a:ea typeface="Calibri"/>
                <a:cs typeface="Times New Roman"/>
              </a:rPr>
              <a:t>Conclusion</a:t>
            </a:r>
          </a:p>
          <a:p>
            <a:pPr>
              <a:lnSpc>
                <a:spcPct val="150000"/>
              </a:lnSpc>
            </a:pPr>
            <a:r>
              <a:rPr lang="en-GB" sz="2000" b="1" dirty="0" smtClean="0">
                <a:latin typeface="Times New Roman"/>
                <a:ea typeface="Calibri"/>
                <a:cs typeface="Times New Roman"/>
              </a:rPr>
              <a:t>References</a:t>
            </a:r>
            <a:endParaRPr lang="en-US" sz="2000" b="1" dirty="0">
              <a:latin typeface="Times New Roman"/>
              <a:ea typeface="Calibri"/>
              <a:cs typeface="Times New Roman"/>
            </a:endParaRPr>
          </a:p>
          <a:p>
            <a:pPr>
              <a:lnSpc>
                <a:spcPct val="150000"/>
              </a:lnSpc>
            </a:pPr>
            <a:endParaRPr lang="en-US" sz="2000" dirty="0"/>
          </a:p>
        </p:txBody>
      </p:sp>
    </p:spTree>
    <p:extLst>
      <p:ext uri="{BB962C8B-B14F-4D97-AF65-F5344CB8AC3E}">
        <p14:creationId xmlns:p14="http://schemas.microsoft.com/office/powerpoint/2010/main" val="28554087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BB3B8-D3BA-144F-BAB4-3D876A50E1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C6454-3898-F403-9A3D-7BB17DFC109C}"/>
              </a:ext>
            </a:extLst>
          </p:cNvPr>
          <p:cNvSpPr>
            <a:spLocks noGrp="1"/>
          </p:cNvSpPr>
          <p:nvPr>
            <p:ph type="ctrTitle"/>
          </p:nvPr>
        </p:nvSpPr>
        <p:spPr>
          <a:xfrm>
            <a:off x="4133803" y="524268"/>
            <a:ext cx="3318808" cy="571576"/>
          </a:xfrm>
        </p:spPr>
        <p:txBody>
          <a:bodyPr>
            <a:noAutofit/>
          </a:bodyPr>
          <a:lstStyle/>
          <a:p>
            <a:r>
              <a:rPr lang="en-US" sz="4000" b="1" spc="300" dirty="0">
                <a:latin typeface="Times New Roman"/>
                <a:cs typeface="Times New Roman"/>
              </a:rPr>
              <a:t/>
            </a:r>
            <a:br>
              <a:rPr lang="en-US" sz="4000" b="1" spc="300" dirty="0">
                <a:latin typeface="Times New Roman"/>
                <a:cs typeface="Times New Roman"/>
              </a:rPr>
            </a:br>
            <a:r>
              <a:rPr lang="en-US" sz="4000" b="1" spc="300" dirty="0">
                <a:latin typeface="Times New Roman"/>
                <a:cs typeface="Times New Roman"/>
              </a:rPr>
              <a:t/>
            </a:r>
            <a:br>
              <a:rPr lang="en-US" sz="4000" b="1" spc="300" dirty="0">
                <a:latin typeface="Times New Roman"/>
                <a:cs typeface="Times New Roman"/>
              </a:rPr>
            </a:br>
            <a:r>
              <a:rPr lang="en-US" sz="4000" b="1" spc="300" dirty="0">
                <a:latin typeface="Times New Roman"/>
                <a:cs typeface="Times New Roman"/>
              </a:rPr>
              <a:t/>
            </a:r>
            <a:br>
              <a:rPr lang="en-US" sz="4000" b="1" spc="300" dirty="0">
                <a:latin typeface="Times New Roman"/>
                <a:cs typeface="Times New Roman"/>
              </a:rPr>
            </a:br>
            <a:r>
              <a:rPr lang="en-US" sz="4000" b="1" spc="300" dirty="0">
                <a:latin typeface="Times New Roman"/>
                <a:cs typeface="Times New Roman"/>
              </a:rPr>
              <a:t/>
            </a:r>
            <a:br>
              <a:rPr lang="en-US" sz="4000" b="1" spc="300" dirty="0">
                <a:latin typeface="Times New Roman"/>
                <a:cs typeface="Times New Roman"/>
              </a:rPr>
            </a:br>
            <a:r>
              <a:rPr lang="en-US" sz="4000" b="1" spc="300" dirty="0">
                <a:latin typeface="Times New Roman"/>
                <a:cs typeface="Times New Roman"/>
              </a:rPr>
              <a:t/>
            </a:r>
            <a:br>
              <a:rPr lang="en-US" sz="4000" b="1" spc="300" dirty="0">
                <a:latin typeface="Times New Roman"/>
                <a:cs typeface="Times New Roman"/>
              </a:rPr>
            </a:br>
            <a:r>
              <a:rPr lang="en-US" sz="4000" b="1" spc="300" dirty="0">
                <a:latin typeface="Times New Roman"/>
                <a:cs typeface="Times New Roman"/>
              </a:rPr>
              <a:t/>
            </a:r>
            <a:br>
              <a:rPr lang="en-US" sz="4000" b="1" spc="300" dirty="0">
                <a:latin typeface="Times New Roman"/>
                <a:cs typeface="Times New Roman"/>
              </a:rPr>
            </a:br>
            <a:r>
              <a:rPr lang="en-US" sz="4000" b="1" spc="300" dirty="0">
                <a:latin typeface="Times New Roman"/>
                <a:cs typeface="Times New Roman"/>
              </a:rPr>
              <a:t/>
            </a:r>
            <a:br>
              <a:rPr lang="en-US" sz="4000" b="1" spc="300" dirty="0">
                <a:latin typeface="Times New Roman"/>
                <a:cs typeface="Times New Roman"/>
              </a:rPr>
            </a:br>
            <a:r>
              <a:rPr lang="en-US" sz="4000" b="1" spc="300" dirty="0">
                <a:latin typeface="Times New Roman"/>
                <a:cs typeface="Times New Roman"/>
              </a:rPr>
              <a:t>ABSTRACT</a:t>
            </a:r>
            <a:endParaRPr lang="en-IN" sz="4000" b="1" spc="300" dirty="0">
              <a:latin typeface="Times New Roman"/>
              <a:cs typeface="Times New Roman"/>
            </a:endParaRPr>
          </a:p>
        </p:txBody>
      </p:sp>
      <p:sp>
        <p:nvSpPr>
          <p:cNvPr id="3" name="Subtitle 2">
            <a:extLst>
              <a:ext uri="{FF2B5EF4-FFF2-40B4-BE49-F238E27FC236}">
                <a16:creationId xmlns:a16="http://schemas.microsoft.com/office/drawing/2014/main" id="{823FCBAA-8C1F-2D9F-3560-8EFFD1A774B6}"/>
              </a:ext>
            </a:extLst>
          </p:cNvPr>
          <p:cNvSpPr>
            <a:spLocks noGrp="1"/>
          </p:cNvSpPr>
          <p:nvPr>
            <p:ph type="subTitle" idx="1"/>
          </p:nvPr>
        </p:nvSpPr>
        <p:spPr>
          <a:xfrm>
            <a:off x="723900" y="1248042"/>
            <a:ext cx="10839450" cy="5376729"/>
          </a:xfrm>
        </p:spPr>
        <p:txBody>
          <a:bodyPr vert="horz" lIns="91440" tIns="45720" rIns="91440" bIns="45720" rtlCol="0" anchor="t">
            <a:noAutofit/>
          </a:bodyPr>
          <a:lstStyle/>
          <a:p>
            <a:pPr algn="just">
              <a:lnSpc>
                <a:spcPct val="110000"/>
              </a:lnSpc>
            </a:pPr>
            <a:r>
              <a:rPr lang="en-US" dirty="0">
                <a:latin typeface="Times New Roman" panose="02020603050405020304" pitchFamily="18" charset="0"/>
                <a:cs typeface="Times New Roman" panose="02020603050405020304" pitchFamily="18" charset="0"/>
              </a:rPr>
              <a:t>Agricultural fields face high fire risk due to heat, drought, dry vegetation, lightning, equipment faults, and human activity. Rapid fire spread demands early detection to reduce crop loss. This project presents an Edge-AI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fire detection system for smart agriculture. It integrates DHT11 temperature and humidity sensing, flame sensors, and a camera for multi-layer monitoring. A YOLO-based model on Raspberry Pi 4 performs real-time fire detection with bounding boxes and alerts. Edge computing ensures low latency and no internet dependency. A Flask dashboard displays live video, sensor data, and alerts. Testing shows reliable, fast detection with a cost-effective, scalable design.</a:t>
            </a:r>
            <a:r>
              <a:rPr lang="en-US" dirty="0" smtClean="0">
                <a:latin typeface="Times New Roman" panose="02020603050405020304" pitchFamily="18" charset="0"/>
                <a:cs typeface="Times New Roman" panose="02020603050405020304" pitchFamily="18" charset="0"/>
              </a:rPr>
              <a:t> </a:t>
            </a:r>
          </a:p>
          <a:p>
            <a:pPr algn="just">
              <a:lnSpc>
                <a:spcPct val="110000"/>
              </a:lnSpc>
            </a:pPr>
            <a:r>
              <a:rPr lang="en-IN" b="1" dirty="0" smtClean="0">
                <a:latin typeface="Times New Roman" panose="02020603050405020304" pitchFamily="18" charset="0"/>
                <a:ea typeface="+mn-lt"/>
                <a:cs typeface="Times New Roman" panose="02020603050405020304" pitchFamily="18" charset="0"/>
              </a:rPr>
              <a:t>Keywords</a:t>
            </a:r>
            <a:r>
              <a:rPr lang="en-IN" b="1" dirty="0">
                <a:latin typeface="Times New Roman" panose="02020603050405020304" pitchFamily="18" charset="0"/>
                <a:ea typeface="+mn-lt"/>
                <a:cs typeface="Times New Roman" panose="02020603050405020304" pitchFamily="18" charset="0"/>
              </a:rPr>
              <a:t>:</a:t>
            </a:r>
            <a:endParaRPr lang="en-IN" dirty="0">
              <a:latin typeface="Times New Roman" panose="02020603050405020304" pitchFamily="18" charset="0"/>
              <a:ea typeface="Calibri"/>
              <a:cs typeface="Times New Roman" panose="02020603050405020304" pitchFamily="18" charset="0"/>
            </a:endParaRPr>
          </a:p>
          <a:p>
            <a:pPr algn="l"/>
            <a:r>
              <a:rPr lang="en-IN" dirty="0">
                <a:latin typeface="Times New Roman" panose="02020603050405020304" pitchFamily="18" charset="0"/>
                <a:ea typeface="+mn-lt"/>
                <a:cs typeface="Times New Roman" panose="02020603050405020304" pitchFamily="18" charset="0"/>
              </a:rPr>
              <a:t>IoT, Smart Agriculture, Early Fire </a:t>
            </a:r>
            <a:r>
              <a:rPr lang="en-IN" dirty="0" smtClean="0">
                <a:latin typeface="Times New Roman" panose="02020603050405020304" pitchFamily="18" charset="0"/>
                <a:ea typeface="+mn-lt"/>
                <a:cs typeface="Times New Roman" panose="02020603050405020304" pitchFamily="18" charset="0"/>
              </a:rPr>
              <a:t>Detection, Sensor </a:t>
            </a:r>
            <a:r>
              <a:rPr lang="en-IN" dirty="0">
                <a:latin typeface="Times New Roman" panose="02020603050405020304" pitchFamily="18" charset="0"/>
                <a:ea typeface="+mn-lt"/>
                <a:cs typeface="Times New Roman" panose="02020603050405020304" pitchFamily="18" charset="0"/>
              </a:rPr>
              <a:t>Fusion</a:t>
            </a:r>
            <a:r>
              <a:rPr lang="en-IN" dirty="0" smtClean="0">
                <a:latin typeface="Times New Roman" panose="02020603050405020304" pitchFamily="18" charset="0"/>
                <a:ea typeface="+mn-lt"/>
                <a:cs typeface="Times New Roman" panose="02020603050405020304" pitchFamily="18" charset="0"/>
              </a:rPr>
              <a:t>, Raspberry </a:t>
            </a:r>
            <a:r>
              <a:rPr lang="en-IN" dirty="0">
                <a:latin typeface="Times New Roman" panose="02020603050405020304" pitchFamily="18" charset="0"/>
                <a:ea typeface="+mn-lt"/>
                <a:cs typeface="Times New Roman" panose="02020603050405020304" pitchFamily="18" charset="0"/>
              </a:rPr>
              <a:t>Pi, </a:t>
            </a:r>
            <a:r>
              <a:rPr lang="en-IN" dirty="0" smtClean="0">
                <a:latin typeface="Times New Roman" panose="02020603050405020304" pitchFamily="18" charset="0"/>
                <a:ea typeface="+mn-lt"/>
                <a:cs typeface="Times New Roman" panose="02020603050405020304" pitchFamily="18" charset="0"/>
              </a:rPr>
              <a:t>Edge-Ai, </a:t>
            </a:r>
            <a:r>
              <a:rPr lang="en-IN" dirty="0">
                <a:latin typeface="Times New Roman" panose="02020603050405020304" pitchFamily="18" charset="0"/>
                <a:ea typeface="+mn-lt"/>
                <a:cs typeface="Times New Roman" panose="02020603050405020304" pitchFamily="18" charset="0"/>
              </a:rPr>
              <a:t>Python</a:t>
            </a:r>
            <a:r>
              <a:rPr lang="en-IN" dirty="0" smtClean="0">
                <a:latin typeface="Times New Roman" panose="02020603050405020304" pitchFamily="18" charset="0"/>
                <a:ea typeface="+mn-lt"/>
                <a:cs typeface="Times New Roman" panose="02020603050405020304" pitchFamily="18" charset="0"/>
              </a:rPr>
              <a:t>, Cloud, Mobile </a:t>
            </a:r>
            <a:r>
              <a:rPr lang="en-IN" dirty="0">
                <a:latin typeface="Times New Roman" panose="02020603050405020304" pitchFamily="18" charset="0"/>
                <a:ea typeface="+mn-lt"/>
                <a:cs typeface="Times New Roman" panose="02020603050405020304" pitchFamily="18" charset="0"/>
              </a:rPr>
              <a:t>Alerts, </a:t>
            </a:r>
            <a:r>
              <a:rPr lang="en-IN" dirty="0" smtClean="0">
                <a:latin typeface="Times New Roman" panose="02020603050405020304" pitchFamily="18" charset="0"/>
                <a:ea typeface="+mn-lt"/>
                <a:cs typeface="Times New Roman" panose="02020603050405020304" pitchFamily="18" charset="0"/>
              </a:rPr>
              <a:t>Sustainability, YOLO.</a:t>
            </a:r>
            <a:endParaRPr lang="en-IN" dirty="0">
              <a:latin typeface="Times New Roman" panose="02020603050405020304" pitchFamily="18" charset="0"/>
              <a:ea typeface="+mn-lt"/>
              <a:cs typeface="Times New Roman" panose="02020603050405020304" pitchFamily="18" charset="0"/>
            </a:endParaRPr>
          </a:p>
          <a:p>
            <a:pPr algn="just">
              <a:lnSpc>
                <a:spcPct val="110000"/>
              </a:lnSpc>
            </a:pPr>
            <a:endParaRPr lang="en-IN" dirty="0">
              <a:latin typeface="Times New Roman"/>
              <a:ea typeface="+mn-lt"/>
              <a:cs typeface="Times New Roman"/>
            </a:endParaRPr>
          </a:p>
        </p:txBody>
      </p:sp>
      <p:sp>
        <p:nvSpPr>
          <p:cNvPr id="4" name="TextBox 3"/>
          <p:cNvSpPr txBox="1"/>
          <p:nvPr/>
        </p:nvSpPr>
        <p:spPr>
          <a:xfrm>
            <a:off x="4133803" y="348391"/>
            <a:ext cx="3682032" cy="923330"/>
          </a:xfrm>
          <a:prstGeom prst="rect">
            <a:avLst/>
          </a:prstGeom>
          <a:noFill/>
        </p:spPr>
        <p:txBody>
          <a:bodyPr wrap="square" rtlCol="0">
            <a:spAutoFit/>
          </a:bodyPr>
          <a:lstStyle/>
          <a:p>
            <a:r>
              <a:rPr lang="en-GB" sz="5400" b="1" u="sng" dirty="0">
                <a:solidFill>
                  <a:schemeClr val="accent2"/>
                </a:solidFill>
              </a:rPr>
              <a:t>_________</a:t>
            </a:r>
            <a:endParaRPr lang="en-IN" sz="5400" b="1" u="sng" dirty="0">
              <a:solidFill>
                <a:schemeClr val="accent2"/>
              </a:solidFill>
            </a:endParaRPr>
          </a:p>
        </p:txBody>
      </p:sp>
    </p:spTree>
    <p:extLst>
      <p:ext uri="{BB962C8B-B14F-4D97-AF65-F5344CB8AC3E}">
        <p14:creationId xmlns:p14="http://schemas.microsoft.com/office/powerpoint/2010/main" val="1203633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9EB99-3247-C6BC-3E99-AFC982B80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65DD3-79FF-E64E-8F0C-0DA92390C3A7}"/>
              </a:ext>
            </a:extLst>
          </p:cNvPr>
          <p:cNvSpPr>
            <a:spLocks noGrp="1"/>
          </p:cNvSpPr>
          <p:nvPr>
            <p:ph type="title"/>
          </p:nvPr>
        </p:nvSpPr>
        <p:spPr>
          <a:xfrm>
            <a:off x="3899868" y="546015"/>
            <a:ext cx="4021021" cy="515408"/>
          </a:xfrm>
        </p:spPr>
        <p:txBody>
          <a:bodyPr>
            <a:noAutofit/>
          </a:bodyPr>
          <a:lstStyle/>
          <a:p>
            <a:pPr algn="ctr"/>
            <a:r>
              <a:rPr lang="en-US" sz="4000" b="1" spc="300" dirty="0">
                <a:latin typeface="Times New Roman"/>
                <a:ea typeface="+mj-lt"/>
                <a:cs typeface="+mj-lt"/>
              </a:rPr>
              <a:t>1</a:t>
            </a:r>
            <a:r>
              <a:rPr lang="en-US" sz="4000" b="1" spc="300" dirty="0">
                <a:ea typeface="+mj-lt"/>
                <a:cs typeface="+mj-lt"/>
              </a:rPr>
              <a:t>.</a:t>
            </a:r>
            <a:r>
              <a:rPr lang="en-US" sz="4000" b="1" spc="300" dirty="0">
                <a:latin typeface="Times New Roman"/>
                <a:ea typeface="+mj-lt"/>
                <a:cs typeface="+mj-lt"/>
              </a:rPr>
              <a:t>Introduction</a:t>
            </a:r>
            <a:r>
              <a:rPr lang="en-US" sz="4000" b="1" spc="300" dirty="0">
                <a:ea typeface="+mj-lt"/>
                <a:cs typeface="+mj-lt"/>
              </a:rPr>
              <a:t> </a:t>
            </a:r>
            <a:endParaRPr lang="en-US" sz="4000" b="1" spc="300" dirty="0">
              <a:ea typeface="Calibri Light"/>
              <a:cs typeface="Calibri Light"/>
            </a:endParaRPr>
          </a:p>
        </p:txBody>
      </p:sp>
      <p:sp>
        <p:nvSpPr>
          <p:cNvPr id="4" name="Rectangle 3">
            <a:extLst>
              <a:ext uri="{FF2B5EF4-FFF2-40B4-BE49-F238E27FC236}">
                <a16:creationId xmlns:a16="http://schemas.microsoft.com/office/drawing/2014/main" id="{4FC1C845-3164-48BE-40A0-2804E0AF96B4}"/>
              </a:ext>
            </a:extLst>
          </p:cNvPr>
          <p:cNvSpPr/>
          <p:nvPr/>
        </p:nvSpPr>
        <p:spPr>
          <a:xfrm>
            <a:off x="363415" y="166252"/>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4E555D8-165C-8285-872E-B0496738EE1A}"/>
              </a:ext>
            </a:extLst>
          </p:cNvPr>
          <p:cNvSpPr txBox="1"/>
          <p:nvPr/>
        </p:nvSpPr>
        <p:spPr>
          <a:xfrm>
            <a:off x="730777" y="1326084"/>
            <a:ext cx="10683551" cy="5011949"/>
          </a:xfrm>
          <a:prstGeom prst="rect">
            <a:avLst/>
          </a:prstGeom>
          <a:noFill/>
        </p:spPr>
        <p:txBody>
          <a:bodyPr wrap="square" lIns="91440" tIns="45720" rIns="91440" bIns="45720" rtlCol="0" anchor="t">
            <a:spAutoFit/>
          </a:bodyPr>
          <a:lstStyle/>
          <a:p>
            <a:pPr marL="285750" indent="-285750" algn="just">
              <a:lnSpc>
                <a:spcPct val="150000"/>
              </a:lnSpc>
              <a:buFont typeface="Wingdings" panose="05000000000000000000" pitchFamily="2" charset="2"/>
              <a:buChar char="Ø"/>
            </a:pPr>
            <a:r>
              <a:rPr lang="en-US" sz="2400" b="1" dirty="0">
                <a:latin typeface="Times New Roman"/>
                <a:cs typeface="Times New Roman"/>
              </a:rPr>
              <a:t>Smart Agriculture</a:t>
            </a:r>
            <a:r>
              <a:rPr lang="en-US" sz="2400" dirty="0">
                <a:latin typeface="Times New Roman"/>
                <a:cs typeface="Times New Roman"/>
              </a:rPr>
              <a:t>: The integration of IoT technologies is crucial for optimizing crop management and monitoring. </a:t>
            </a:r>
          </a:p>
          <a:p>
            <a:pPr marL="285750" indent="-285750" algn="just">
              <a:lnSpc>
                <a:spcPct val="150000"/>
              </a:lnSpc>
              <a:buFont typeface="Wingdings" panose="05000000000000000000" pitchFamily="2" charset="2"/>
              <a:buChar char="Ø"/>
            </a:pPr>
            <a:r>
              <a:rPr lang="en-US" sz="2400" b="1" dirty="0">
                <a:latin typeface="Times New Roman"/>
                <a:cs typeface="Times New Roman"/>
              </a:rPr>
              <a:t>Global Challenges</a:t>
            </a:r>
            <a:r>
              <a:rPr lang="en-US" sz="2400" dirty="0">
                <a:latin typeface="Times New Roman"/>
                <a:cs typeface="Times New Roman"/>
              </a:rPr>
              <a:t>: Climate change is increasing pressure on natural resources and heightening food safety requirements. </a:t>
            </a:r>
          </a:p>
          <a:p>
            <a:pPr marL="285750" indent="-285750" algn="just">
              <a:lnSpc>
                <a:spcPct val="150000"/>
              </a:lnSpc>
              <a:buFont typeface="Wingdings" panose="05000000000000000000" pitchFamily="2" charset="2"/>
              <a:buChar char="Ø"/>
            </a:pPr>
            <a:r>
              <a:rPr lang="en-US" sz="2400" b="1" dirty="0">
                <a:latin typeface="Times New Roman"/>
                <a:cs typeface="Times New Roman"/>
              </a:rPr>
              <a:t>The Problem of Fire</a:t>
            </a:r>
            <a:r>
              <a:rPr lang="en-US" sz="2400" dirty="0">
                <a:latin typeface="Times New Roman"/>
                <a:cs typeface="Times New Roman"/>
              </a:rPr>
              <a:t>: Fire risk management is a major challenge in the agricultural sector, potentially causing significant resource loss and impacting food safety.  </a:t>
            </a:r>
          </a:p>
          <a:p>
            <a:pPr marL="285750" indent="-285750" algn="just">
              <a:lnSpc>
                <a:spcPct val="150000"/>
              </a:lnSpc>
              <a:buFont typeface="Wingdings" panose="05000000000000000000" pitchFamily="2" charset="2"/>
              <a:buChar char="Ø"/>
            </a:pPr>
            <a:r>
              <a:rPr lang="en-US" sz="2400" b="1" dirty="0">
                <a:latin typeface="Times New Roman"/>
                <a:cs typeface="Times New Roman"/>
              </a:rPr>
              <a:t>Need for Innovation</a:t>
            </a:r>
            <a:r>
              <a:rPr lang="en-US" sz="2400" dirty="0">
                <a:latin typeface="Times New Roman"/>
                <a:cs typeface="Times New Roman"/>
              </a:rPr>
              <a:t>: Traditional fire detection methods can be inadequate in speed and accuracy, making it essential to develop advanced systems for real-time monitoring and effective risk management.</a:t>
            </a:r>
            <a:endParaRPr lang="en-IN" sz="2400" dirty="0">
              <a:latin typeface="Times New Roman"/>
              <a:cs typeface="Times New Roman"/>
            </a:endParaRPr>
          </a:p>
        </p:txBody>
      </p:sp>
      <p:sp>
        <p:nvSpPr>
          <p:cNvPr id="7" name="TextBox 6"/>
          <p:cNvSpPr txBox="1"/>
          <p:nvPr/>
        </p:nvSpPr>
        <p:spPr>
          <a:xfrm>
            <a:off x="4485424" y="342054"/>
            <a:ext cx="3435465" cy="923330"/>
          </a:xfrm>
          <a:prstGeom prst="rect">
            <a:avLst/>
          </a:prstGeom>
          <a:noFill/>
        </p:spPr>
        <p:txBody>
          <a:bodyPr wrap="square" rtlCol="0">
            <a:spAutoFit/>
          </a:bodyPr>
          <a:lstStyle/>
          <a:p>
            <a:r>
              <a:rPr lang="en-GB" sz="5400" b="1" u="sng" dirty="0">
                <a:solidFill>
                  <a:schemeClr val="accent2"/>
                </a:solidFill>
              </a:rPr>
              <a:t>_________ </a:t>
            </a:r>
            <a:endParaRPr lang="en-IN" sz="5400" b="1" u="sng" dirty="0">
              <a:solidFill>
                <a:schemeClr val="accent2"/>
              </a:solidFill>
            </a:endParaRPr>
          </a:p>
        </p:txBody>
      </p:sp>
    </p:spTree>
    <p:extLst>
      <p:ext uri="{BB962C8B-B14F-4D97-AF65-F5344CB8AC3E}">
        <p14:creationId xmlns:p14="http://schemas.microsoft.com/office/powerpoint/2010/main" val="37541352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96E89C-FE2D-36F2-975F-857391CBF0EC}"/>
              </a:ext>
            </a:extLst>
          </p:cNvPr>
          <p:cNvSpPr>
            <a:spLocks noGrp="1"/>
          </p:cNvSpPr>
          <p:nvPr>
            <p:ph idx="1"/>
          </p:nvPr>
        </p:nvSpPr>
        <p:spPr>
          <a:xfrm>
            <a:off x="923303" y="1396762"/>
            <a:ext cx="10298500" cy="4143082"/>
          </a:xfrm>
        </p:spPr>
        <p:txBody>
          <a:bodyPr vert="horz" lIns="91440" tIns="45720" rIns="91440" bIns="45720" rtlCol="0" anchor="t">
            <a:noAutofit/>
          </a:bodyPr>
          <a:lstStyle/>
          <a:p>
            <a:pPr marL="0" indent="0" algn="just">
              <a:lnSpc>
                <a:spcPct val="150000"/>
              </a:lnSpc>
              <a:buNone/>
            </a:pPr>
            <a:r>
              <a:rPr lang="en-US" sz="2400" dirty="0" smtClean="0">
                <a:latin typeface="Times New Roman" panose="02020603050405020304" pitchFamily="18" charset="0"/>
                <a:cs typeface="Times New Roman" panose="02020603050405020304" pitchFamily="18" charset="0"/>
              </a:rPr>
              <a:t>Agricultural fields </a:t>
            </a:r>
            <a:r>
              <a:rPr lang="en-US" sz="2400" dirty="0">
                <a:latin typeface="Times New Roman" panose="02020603050405020304" pitchFamily="18" charset="0"/>
                <a:cs typeface="Times New Roman" panose="02020603050405020304" pitchFamily="18" charset="0"/>
              </a:rPr>
              <a:t>are increasingly vulnerable to fire hazards due to climate change, rising temperatures, and resource stress conditions. Existing fire detection methods are often slow, reactive, and lack accuracy, making them ineffective in preventing rapid fire spread. Most current systems do not leverage the combined capabilities of </a:t>
            </a:r>
            <a:r>
              <a:rPr lang="en-US" sz="2400" b="1" dirty="0" err="1">
                <a:latin typeface="Times New Roman" panose="02020603050405020304" pitchFamily="18" charset="0"/>
                <a:cs typeface="Times New Roman" panose="02020603050405020304" pitchFamily="18" charset="0"/>
              </a:rPr>
              <a:t>IoT</a:t>
            </a:r>
            <a:r>
              <a:rPr lang="en-US" sz="2400" b="1"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&amp; Edge </a:t>
            </a:r>
            <a:r>
              <a:rPr lang="en-US" sz="2400" b="1" dirty="0">
                <a:latin typeface="Times New Roman" panose="02020603050405020304" pitchFamily="18" charset="0"/>
                <a:cs typeface="Times New Roman" panose="02020603050405020304" pitchFamily="18" charset="0"/>
              </a:rPr>
              <a:t>AI </a:t>
            </a:r>
            <a:r>
              <a:rPr lang="en-US" sz="2400" dirty="0">
                <a:latin typeface="Times New Roman" panose="02020603050405020304" pitchFamily="18" charset="0"/>
                <a:cs typeface="Times New Roman" panose="02020603050405020304" pitchFamily="18" charset="0"/>
              </a:rPr>
              <a:t>for real-time, local detection. Additionally, the absence of immediate data processing and automated alert mechanisms leads to delayed response and increased damage. Therefore, there is a critical need for an intelligent, real-time fire detection system that enables fast, accurate, and autonomous monitoring in agricultural environments.</a:t>
            </a:r>
          </a:p>
        </p:txBody>
      </p:sp>
      <p:sp>
        <p:nvSpPr>
          <p:cNvPr id="4" name="Title 1">
            <a:extLst>
              <a:ext uri="{FF2B5EF4-FFF2-40B4-BE49-F238E27FC236}">
                <a16:creationId xmlns:a16="http://schemas.microsoft.com/office/drawing/2014/main" id="{D3054388-6BF0-8768-5102-2422D0B0EC28}"/>
              </a:ext>
            </a:extLst>
          </p:cNvPr>
          <p:cNvSpPr txBox="1">
            <a:spLocks/>
          </p:cNvSpPr>
          <p:nvPr/>
        </p:nvSpPr>
        <p:spPr>
          <a:xfrm>
            <a:off x="3148378" y="677916"/>
            <a:ext cx="5848350" cy="4970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spc="300" dirty="0">
                <a:latin typeface="Times New Roman"/>
                <a:ea typeface="+mj-lt"/>
                <a:cs typeface="+mj-lt"/>
              </a:rPr>
              <a:t>2. </a:t>
            </a:r>
            <a:r>
              <a:rPr lang="en-GB" sz="4000" b="1" spc="300" dirty="0">
                <a:latin typeface="Times New Roman"/>
                <a:ea typeface="+mj-lt"/>
                <a:cs typeface="+mj-lt"/>
              </a:rPr>
              <a:t>Problem</a:t>
            </a:r>
            <a:r>
              <a:rPr lang="en-US" sz="4000" b="1" spc="300" dirty="0">
                <a:latin typeface="Times New Roman"/>
                <a:ea typeface="+mj-lt"/>
                <a:cs typeface="+mj-lt"/>
              </a:rPr>
              <a:t> Statement</a:t>
            </a:r>
            <a:endParaRPr lang="en-US" sz="4000" b="1" spc="300" dirty="0">
              <a:ea typeface="Calibri Light"/>
              <a:cs typeface="Calibri Light"/>
            </a:endParaRPr>
          </a:p>
        </p:txBody>
      </p:sp>
      <p:sp>
        <p:nvSpPr>
          <p:cNvPr id="5" name="Rectangle 4">
            <a:extLst>
              <a:ext uri="{FF2B5EF4-FFF2-40B4-BE49-F238E27FC236}">
                <a16:creationId xmlns:a16="http://schemas.microsoft.com/office/drawing/2014/main" id="{81D5523B-D219-772C-1D71-25C433A1C668}"/>
              </a:ext>
            </a:extLst>
          </p:cNvPr>
          <p:cNvSpPr/>
          <p:nvPr/>
        </p:nvSpPr>
        <p:spPr>
          <a:xfrm>
            <a:off x="363415" y="13911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3937209" y="456136"/>
            <a:ext cx="5512538" cy="923330"/>
          </a:xfrm>
          <a:prstGeom prst="rect">
            <a:avLst/>
          </a:prstGeom>
          <a:noFill/>
        </p:spPr>
        <p:txBody>
          <a:bodyPr wrap="square" rtlCol="0">
            <a:spAutoFit/>
          </a:bodyPr>
          <a:lstStyle/>
          <a:p>
            <a:r>
              <a:rPr lang="en-GB" sz="5400" b="1" u="sng" dirty="0">
                <a:solidFill>
                  <a:schemeClr val="accent2"/>
                </a:solidFill>
              </a:rPr>
              <a:t>______________</a:t>
            </a:r>
            <a:endParaRPr lang="en-IN" sz="5400" b="1" u="sng" dirty="0">
              <a:solidFill>
                <a:schemeClr val="accent2"/>
              </a:solidFill>
            </a:endParaRPr>
          </a:p>
        </p:txBody>
      </p:sp>
    </p:spTree>
    <p:extLst>
      <p:ext uri="{BB962C8B-B14F-4D97-AF65-F5344CB8AC3E}">
        <p14:creationId xmlns:p14="http://schemas.microsoft.com/office/powerpoint/2010/main" val="37663817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6684-69E7-D360-E66B-167450E7D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FCB0F-4EC4-B9DE-1933-90E1BBD0D7DC}"/>
              </a:ext>
            </a:extLst>
          </p:cNvPr>
          <p:cNvSpPr>
            <a:spLocks noGrp="1"/>
          </p:cNvSpPr>
          <p:nvPr>
            <p:ph type="title"/>
          </p:nvPr>
        </p:nvSpPr>
        <p:spPr>
          <a:xfrm>
            <a:off x="3923072" y="582775"/>
            <a:ext cx="3525478" cy="685682"/>
          </a:xfrm>
        </p:spPr>
        <p:txBody>
          <a:bodyPr>
            <a:noAutofit/>
          </a:bodyPr>
          <a:lstStyle/>
          <a:p>
            <a:pPr algn="ctr"/>
            <a:r>
              <a:rPr lang="en-IN" sz="4000" b="1" dirty="0">
                <a:latin typeface="Times New Roman"/>
                <a:ea typeface="Calibri"/>
                <a:cs typeface="Times New Roman"/>
              </a:rPr>
              <a:t> </a:t>
            </a:r>
            <a:r>
              <a:rPr lang="en-IN" sz="4000" b="1" spc="300" dirty="0">
                <a:latin typeface="Times New Roman"/>
                <a:ea typeface="Calibri"/>
                <a:cs typeface="Times New Roman"/>
              </a:rPr>
              <a:t>3.Objectives</a:t>
            </a:r>
            <a:endParaRPr lang="en-IN" sz="4000" b="1" spc="300" dirty="0">
              <a:latin typeface="Times New Roman" panose="02020603050405020304" pitchFamily="18" charset="0"/>
              <a:ea typeface="Calibri"/>
              <a:cs typeface="Times New Roman" panose="02020603050405020304" pitchFamily="18" charset="0"/>
            </a:endParaRPr>
          </a:p>
        </p:txBody>
      </p:sp>
      <p:sp>
        <p:nvSpPr>
          <p:cNvPr id="3" name="Rectangle 2">
            <a:extLst>
              <a:ext uri="{FF2B5EF4-FFF2-40B4-BE49-F238E27FC236}">
                <a16:creationId xmlns:a16="http://schemas.microsoft.com/office/drawing/2014/main" id="{79B6F1DE-D2CC-F5BC-DC94-4E68790F6B20}"/>
              </a:ext>
            </a:extLst>
          </p:cNvPr>
          <p:cNvSpPr/>
          <p:nvPr/>
        </p:nvSpPr>
        <p:spPr>
          <a:xfrm>
            <a:off x="363415" y="170122"/>
            <a:ext cx="11418277" cy="6517758"/>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4465331" y="592935"/>
            <a:ext cx="3433193" cy="923330"/>
          </a:xfrm>
          <a:prstGeom prst="rect">
            <a:avLst/>
          </a:prstGeom>
          <a:noFill/>
        </p:spPr>
        <p:txBody>
          <a:bodyPr wrap="square" rtlCol="0">
            <a:spAutoFit/>
          </a:bodyPr>
          <a:lstStyle/>
          <a:p>
            <a:r>
              <a:rPr lang="en-GB" sz="5400" b="1" u="sng" dirty="0">
                <a:solidFill>
                  <a:schemeClr val="accent2"/>
                </a:solidFill>
              </a:rPr>
              <a:t>________</a:t>
            </a:r>
            <a:endParaRPr lang="en-IN" sz="5400" b="1" u="sng" dirty="0">
              <a:solidFill>
                <a:schemeClr val="accent2"/>
              </a:solidFill>
            </a:endParaRPr>
          </a:p>
        </p:txBody>
      </p:sp>
      <p:sp>
        <p:nvSpPr>
          <p:cNvPr id="9" name="Rectangle 4"/>
          <p:cNvSpPr>
            <a:spLocks noGrp="1" noChangeArrowheads="1"/>
          </p:cNvSpPr>
          <p:nvPr>
            <p:ph idx="1"/>
          </p:nvPr>
        </p:nvSpPr>
        <p:spPr bwMode="auto">
          <a:xfrm>
            <a:off x="777763" y="1330430"/>
            <a:ext cx="10782300" cy="4539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design and develop an Edge-AI based fire detection system for agricultural fields by integrating sensors and computer vision for real-time monitoring. </a:t>
            </a:r>
          </a:p>
          <a:p>
            <a:pPr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implement a YOLO-based deep learning model on Raspberry Pi for accurate and low-latency fire detection using local (edge) processing. </a:t>
            </a:r>
          </a:p>
          <a:p>
            <a:pPr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develop a web-based monitoring and alert system that provides real-time data visualization and immediate fire notifications to users. </a:t>
            </a:r>
          </a:p>
        </p:txBody>
      </p:sp>
    </p:spTree>
    <p:extLst>
      <p:ext uri="{BB962C8B-B14F-4D97-AF65-F5344CB8AC3E}">
        <p14:creationId xmlns:p14="http://schemas.microsoft.com/office/powerpoint/2010/main" val="825831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E299A-2B8A-9CFE-AF82-14B0D153BBD5}"/>
              </a:ext>
            </a:extLst>
          </p:cNvPr>
          <p:cNvSpPr>
            <a:spLocks noGrp="1"/>
          </p:cNvSpPr>
          <p:nvPr>
            <p:ph type="title"/>
          </p:nvPr>
        </p:nvSpPr>
        <p:spPr>
          <a:xfrm>
            <a:off x="3400425" y="-315708"/>
            <a:ext cx="5391150" cy="1325563"/>
          </a:xfrm>
        </p:spPr>
        <p:txBody>
          <a:bodyPr>
            <a:normAutofit/>
          </a:bodyPr>
          <a:lstStyle/>
          <a:p>
            <a:pPr algn="ctr"/>
            <a:r>
              <a:rPr lang="en-IN" sz="4000" b="1" spc="300" dirty="0">
                <a:latin typeface="Times New Roman" panose="02020603050405020304" pitchFamily="18" charset="0"/>
                <a:cs typeface="Times New Roman" panose="02020603050405020304" pitchFamily="18" charset="0"/>
              </a:rPr>
              <a:t>4. Literature survey</a:t>
            </a:r>
          </a:p>
        </p:txBody>
      </p:sp>
      <p:graphicFrame>
        <p:nvGraphicFramePr>
          <p:cNvPr id="7" name="Table 6">
            <a:extLst>
              <a:ext uri="{FF2B5EF4-FFF2-40B4-BE49-F238E27FC236}">
                <a16:creationId xmlns:a16="http://schemas.microsoft.com/office/drawing/2014/main" id="{89E051AA-BD0A-E253-6D1F-355FF19F3139}"/>
              </a:ext>
            </a:extLst>
          </p:cNvPr>
          <p:cNvGraphicFramePr>
            <a:graphicFrameLocks noGrp="1"/>
          </p:cNvGraphicFramePr>
          <p:nvPr>
            <p:extLst>
              <p:ext uri="{D42A27DB-BD31-4B8C-83A1-F6EECF244321}">
                <p14:modId xmlns:p14="http://schemas.microsoft.com/office/powerpoint/2010/main" val="544337511"/>
              </p:ext>
            </p:extLst>
          </p:nvPr>
        </p:nvGraphicFramePr>
        <p:xfrm>
          <a:off x="19050" y="749475"/>
          <a:ext cx="12152630" cy="6108525"/>
        </p:xfrm>
        <a:graphic>
          <a:graphicData uri="http://schemas.openxmlformats.org/drawingml/2006/table">
            <a:tbl>
              <a:tblPr firstRow="1" firstCol="1" bandRow="1">
                <a:tableStyleId>{5C22544A-7EE6-4342-B048-85BDC9FD1C3A}</a:tableStyleId>
              </a:tblPr>
              <a:tblGrid>
                <a:gridCol w="1726405">
                  <a:extLst>
                    <a:ext uri="{9D8B030D-6E8A-4147-A177-3AD203B41FA5}">
                      <a16:colId xmlns:a16="http://schemas.microsoft.com/office/drawing/2014/main" val="3651061954"/>
                    </a:ext>
                  </a:extLst>
                </a:gridCol>
                <a:gridCol w="975123">
                  <a:extLst>
                    <a:ext uri="{9D8B030D-6E8A-4147-A177-3AD203B41FA5}">
                      <a16:colId xmlns:a16="http://schemas.microsoft.com/office/drawing/2014/main" val="86650799"/>
                    </a:ext>
                  </a:extLst>
                </a:gridCol>
                <a:gridCol w="4388048">
                  <a:extLst>
                    <a:ext uri="{9D8B030D-6E8A-4147-A177-3AD203B41FA5}">
                      <a16:colId xmlns:a16="http://schemas.microsoft.com/office/drawing/2014/main" val="2482529120"/>
                    </a:ext>
                  </a:extLst>
                </a:gridCol>
                <a:gridCol w="2515712">
                  <a:extLst>
                    <a:ext uri="{9D8B030D-6E8A-4147-A177-3AD203B41FA5}">
                      <a16:colId xmlns:a16="http://schemas.microsoft.com/office/drawing/2014/main" val="1072293359"/>
                    </a:ext>
                  </a:extLst>
                </a:gridCol>
                <a:gridCol w="2547342">
                  <a:extLst>
                    <a:ext uri="{9D8B030D-6E8A-4147-A177-3AD203B41FA5}">
                      <a16:colId xmlns:a16="http://schemas.microsoft.com/office/drawing/2014/main" val="1563752049"/>
                    </a:ext>
                  </a:extLst>
                </a:gridCol>
              </a:tblGrid>
              <a:tr h="533401">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Author</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Year</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Methodology</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Advantages</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Limitations</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extLst>
                  <a:ext uri="{0D108BD9-81ED-4DB2-BD59-A6C34878D82A}">
                    <a16:rowId xmlns:a16="http://schemas.microsoft.com/office/drawing/2014/main" val="3181233055"/>
                  </a:ext>
                </a:extLst>
              </a:tr>
              <a:tr h="1368859">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Ramadan et al.</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2024</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UAV-based early wildfire detection using thermal + RGB cameras, onboard SBCs, and lightweight CNNs at the edge</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Fast detection over large areas; edge AI reduces latency; scalable coverage</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Limited drone flight time and energy; less ground-level sensor fusion</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extLst>
                  <a:ext uri="{0D108BD9-81ED-4DB2-BD59-A6C34878D82A}">
                    <a16:rowId xmlns:a16="http://schemas.microsoft.com/office/drawing/2014/main" val="1468426809"/>
                  </a:ext>
                </a:extLst>
              </a:tr>
              <a:tr h="1151002">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Morchid et al.</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2024</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IoT-enabled fire detection in sustainable agriculture using , multi-sensors, </a:t>
                      </a:r>
                      <a:r>
                        <a:rPr lang="en-IN" sz="1800" b="1" i="0" kern="100" dirty="0" err="1">
                          <a:effectLst/>
                          <a:latin typeface="+mn-lt"/>
                          <a:cs typeface="Times New Roman" panose="02020603050405020304" pitchFamily="18" charset="0"/>
                        </a:rPr>
                        <a:t>ThingSpeak</a:t>
                      </a:r>
                      <a:r>
                        <a:rPr lang="en-IN" sz="1800" b="1" i="0" kern="100" dirty="0">
                          <a:effectLst/>
                          <a:latin typeface="+mn-lt"/>
                          <a:cs typeface="Times New Roman" panose="02020603050405020304" pitchFamily="18" charset="0"/>
                        </a:rPr>
                        <a:t>/cloud, classical ML &amp; embedded DL</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Real-time detection; dashboards for farmers; sustainable design</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Prototype scale; needs stronger mesh resilience and sensor fusion</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extLst>
                  <a:ext uri="{0D108BD9-81ED-4DB2-BD59-A6C34878D82A}">
                    <a16:rowId xmlns:a16="http://schemas.microsoft.com/office/drawing/2014/main" val="2693572615"/>
                  </a:ext>
                </a:extLst>
              </a:tr>
              <a:tr h="1096499">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Titu et al.</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2024</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Real-time fire detection using drones with edge computing and pruned CNN/YOLO models</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Edge inference reduces latency and backhaul; good accuracy</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Focuses on visual detection only; lacks smoke/gas sensor fusion</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extLst>
                  <a:ext uri="{0D108BD9-81ED-4DB2-BD59-A6C34878D82A}">
                    <a16:rowId xmlns:a16="http://schemas.microsoft.com/office/drawing/2014/main" val="3250192749"/>
                  </a:ext>
                </a:extLst>
              </a:tr>
              <a:tr h="984846">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Özel et al.</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2024</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Survey of modern forest-fire detection (vision + DL + sensors) comparing edge vs cloud</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Identifies DL + edge computing as future direction; maps trends</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No implementation; review only</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extLst>
                  <a:ext uri="{0D108BD9-81ED-4DB2-BD59-A6C34878D82A}">
                    <a16:rowId xmlns:a16="http://schemas.microsoft.com/office/drawing/2014/main" val="1433549886"/>
                  </a:ext>
                </a:extLst>
              </a:tr>
              <a:tr h="933450">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Aliyu et al.</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2023</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Blockchain-based trusted logging of IoT sensor data over LoRa/Cellular gateways</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Tamper-proof audit trail; improved trustworthiness</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tc>
                  <a:txBody>
                    <a:bodyPr/>
                    <a:lstStyle/>
                    <a:p>
                      <a:pPr algn="ctr">
                        <a:lnSpc>
                          <a:spcPct val="107000"/>
                        </a:lnSpc>
                        <a:spcAft>
                          <a:spcPts val="800"/>
                        </a:spcAft>
                        <a:buNone/>
                      </a:pPr>
                      <a:r>
                        <a:rPr lang="en-IN" sz="1800" b="1" i="0" kern="100" dirty="0">
                          <a:effectLst/>
                          <a:latin typeface="+mn-lt"/>
                          <a:cs typeface="Times New Roman" panose="02020603050405020304" pitchFamily="18" charset="0"/>
                        </a:rPr>
                        <a:t>Scalability &amp; transaction cost issues for constrained nodes</a:t>
                      </a:r>
                      <a:endParaRPr lang="en-IN" sz="1800" b="1" i="0" kern="100" dirty="0">
                        <a:effectLst/>
                        <a:latin typeface="+mn-lt"/>
                        <a:ea typeface="Calibri" panose="020F0502020204030204" pitchFamily="34" charset="0"/>
                        <a:cs typeface="Times New Roman" panose="02020603050405020304" pitchFamily="18" charset="0"/>
                      </a:endParaRPr>
                    </a:p>
                  </a:txBody>
                  <a:tcPr marL="8741" marR="8741" marT="8741" marB="8741" anchor="ctr"/>
                </a:tc>
                <a:extLst>
                  <a:ext uri="{0D108BD9-81ED-4DB2-BD59-A6C34878D82A}">
                    <a16:rowId xmlns:a16="http://schemas.microsoft.com/office/drawing/2014/main" val="945667983"/>
                  </a:ext>
                </a:extLst>
              </a:tr>
            </a:tbl>
          </a:graphicData>
        </a:graphic>
      </p:graphicFrame>
      <p:sp>
        <p:nvSpPr>
          <p:cNvPr id="8" name="Rectangle 1">
            <a:extLst>
              <a:ext uri="{FF2B5EF4-FFF2-40B4-BE49-F238E27FC236}">
                <a16:creationId xmlns:a16="http://schemas.microsoft.com/office/drawing/2014/main" id="{B9D0BC5D-7BD1-2686-CC68-3950BCC9C7FC}"/>
              </a:ext>
            </a:extLst>
          </p:cNvPr>
          <p:cNvSpPr>
            <a:spLocks noChangeArrowheads="1"/>
          </p:cNvSpPr>
          <p:nvPr/>
        </p:nvSpPr>
        <p:spPr bwMode="auto">
          <a:xfrm>
            <a:off x="1271588"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9972541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6684-69E7-D360-E66B-167450E7D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FCB0F-4EC4-B9DE-1933-90E1BBD0D7DC}"/>
              </a:ext>
            </a:extLst>
          </p:cNvPr>
          <p:cNvSpPr>
            <a:spLocks noGrp="1"/>
          </p:cNvSpPr>
          <p:nvPr>
            <p:ph type="title"/>
          </p:nvPr>
        </p:nvSpPr>
        <p:spPr>
          <a:xfrm>
            <a:off x="2704699" y="582775"/>
            <a:ext cx="6660681" cy="685682"/>
          </a:xfrm>
        </p:spPr>
        <p:txBody>
          <a:bodyPr>
            <a:noAutofit/>
          </a:bodyPr>
          <a:lstStyle/>
          <a:p>
            <a:pPr algn="ctr"/>
            <a:r>
              <a:rPr lang="en-IN" sz="4000" b="1" dirty="0">
                <a:latin typeface="Times New Roman"/>
                <a:ea typeface="Calibri"/>
                <a:cs typeface="Times New Roman"/>
              </a:rPr>
              <a:t> </a:t>
            </a:r>
            <a:r>
              <a:rPr lang="en-IN" sz="4000" b="1" spc="300" dirty="0" smtClean="0">
                <a:latin typeface="Times New Roman"/>
                <a:ea typeface="Calibri"/>
                <a:cs typeface="Times New Roman"/>
              </a:rPr>
              <a:t>5</a:t>
            </a:r>
            <a:r>
              <a:rPr lang="en-IN" sz="4000" b="1" spc="300" dirty="0" smtClean="0">
                <a:latin typeface="Times New Roman"/>
                <a:ea typeface="Calibri"/>
                <a:cs typeface="Times New Roman"/>
              </a:rPr>
              <a:t>.Existing Methodology</a:t>
            </a:r>
            <a:endParaRPr lang="en-IN" sz="4000" b="1" spc="300" dirty="0">
              <a:latin typeface="Times New Roman" panose="02020603050405020304" pitchFamily="18" charset="0"/>
              <a:ea typeface="Calibri"/>
              <a:cs typeface="Times New Roman" panose="02020603050405020304" pitchFamily="18" charset="0"/>
            </a:endParaRPr>
          </a:p>
        </p:txBody>
      </p:sp>
      <p:sp>
        <p:nvSpPr>
          <p:cNvPr id="3" name="Rectangle 2">
            <a:extLst>
              <a:ext uri="{FF2B5EF4-FFF2-40B4-BE49-F238E27FC236}">
                <a16:creationId xmlns:a16="http://schemas.microsoft.com/office/drawing/2014/main" id="{79B6F1DE-D2CC-F5BC-DC94-4E68790F6B20}"/>
              </a:ext>
            </a:extLst>
          </p:cNvPr>
          <p:cNvSpPr/>
          <p:nvPr/>
        </p:nvSpPr>
        <p:spPr>
          <a:xfrm>
            <a:off x="363415" y="170122"/>
            <a:ext cx="11418277" cy="6517758"/>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3599848" y="592935"/>
            <a:ext cx="5765531" cy="923330"/>
          </a:xfrm>
          <a:prstGeom prst="rect">
            <a:avLst/>
          </a:prstGeom>
          <a:noFill/>
        </p:spPr>
        <p:txBody>
          <a:bodyPr wrap="square" rtlCol="0">
            <a:spAutoFit/>
          </a:bodyPr>
          <a:lstStyle/>
          <a:p>
            <a:r>
              <a:rPr lang="en-GB" sz="5400" b="1" u="sng" dirty="0" smtClean="0">
                <a:solidFill>
                  <a:schemeClr val="accent2"/>
                </a:solidFill>
              </a:rPr>
              <a:t>_            ____    ___</a:t>
            </a:r>
            <a:endParaRPr lang="en-IN" sz="5400" b="1" u="sng" dirty="0">
              <a:solidFill>
                <a:schemeClr val="accent2"/>
              </a:solidFill>
            </a:endParaRPr>
          </a:p>
        </p:txBody>
      </p:sp>
      <p:sp>
        <p:nvSpPr>
          <p:cNvPr id="9" name="Rectangle 4"/>
          <p:cNvSpPr>
            <a:spLocks noGrp="1" noChangeArrowheads="1"/>
          </p:cNvSpPr>
          <p:nvPr>
            <p:ph idx="1"/>
          </p:nvPr>
        </p:nvSpPr>
        <p:spPr bwMode="auto">
          <a:xfrm>
            <a:off x="936533" y="1681110"/>
            <a:ext cx="10681529" cy="446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smtClean="0">
                <a:latin typeface="Times New Roman" panose="02020603050405020304" pitchFamily="18" charset="0"/>
                <a:cs typeface="Times New Roman" panose="02020603050405020304" pitchFamily="18" charset="0"/>
              </a:rPr>
              <a:t>Manual </a:t>
            </a:r>
            <a:r>
              <a:rPr lang="en-US" sz="2400" b="1" dirty="0">
                <a:latin typeface="Times New Roman" panose="02020603050405020304" pitchFamily="18" charset="0"/>
                <a:cs typeface="Times New Roman" panose="02020603050405020304" pitchFamily="18" charset="0"/>
              </a:rPr>
              <a:t>Monitoring:</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Fire detection relies on human observation, which is slow, inconsistent, and prone to delay. </a:t>
            </a:r>
          </a:p>
          <a:p>
            <a:r>
              <a:rPr lang="en-US" sz="2400" b="1" dirty="0">
                <a:latin typeface="Times New Roman" panose="02020603050405020304" pitchFamily="18" charset="0"/>
                <a:cs typeface="Times New Roman" panose="02020603050405020304" pitchFamily="18" charset="0"/>
              </a:rPr>
              <a:t>Sensor-Based Detection:</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Uses smoke, heat, or flame sensors with fixed thresholds, often leading to false alarms in outdoor environments. </a:t>
            </a:r>
          </a:p>
          <a:p>
            <a:r>
              <a:rPr lang="en-US" sz="2400" b="1" dirty="0">
                <a:latin typeface="Times New Roman" panose="02020603050405020304" pitchFamily="18" charset="0"/>
                <a:cs typeface="Times New Roman" panose="02020603050405020304" pitchFamily="18" charset="0"/>
              </a:rPr>
              <a:t>Cloud-Based Processing:</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Data from sensors or cameras is sent to cloud servers for analysis, causing latency and dependency on internet connectivity. </a:t>
            </a:r>
          </a:p>
          <a:p>
            <a:r>
              <a:rPr lang="en-US" sz="2400" b="1" dirty="0">
                <a:latin typeface="Times New Roman" panose="02020603050405020304" pitchFamily="18" charset="0"/>
                <a:cs typeface="Times New Roman" panose="02020603050405020304" pitchFamily="18" charset="0"/>
              </a:rPr>
              <a:t>Limited Automation:</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Existing systems lack intelligent analysis and real-time alert mechanisms, resulting in delayed response to fire incidents. </a:t>
            </a:r>
          </a:p>
        </p:txBody>
      </p:sp>
    </p:spTree>
    <p:extLst>
      <p:ext uri="{BB962C8B-B14F-4D97-AF65-F5344CB8AC3E}">
        <p14:creationId xmlns:p14="http://schemas.microsoft.com/office/powerpoint/2010/main" val="31768915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6684-69E7-D360-E66B-167450E7D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FCB0F-4EC4-B9DE-1933-90E1BBD0D7DC}"/>
              </a:ext>
            </a:extLst>
          </p:cNvPr>
          <p:cNvSpPr>
            <a:spLocks noGrp="1"/>
          </p:cNvSpPr>
          <p:nvPr>
            <p:ph type="title"/>
          </p:nvPr>
        </p:nvSpPr>
        <p:spPr>
          <a:xfrm>
            <a:off x="2704699" y="582775"/>
            <a:ext cx="6660681" cy="685682"/>
          </a:xfrm>
        </p:spPr>
        <p:txBody>
          <a:bodyPr>
            <a:noAutofit/>
          </a:bodyPr>
          <a:lstStyle/>
          <a:p>
            <a:pPr algn="ctr"/>
            <a:r>
              <a:rPr lang="en-IN" sz="4000" b="1" dirty="0">
                <a:latin typeface="Times New Roman"/>
                <a:ea typeface="Calibri"/>
                <a:cs typeface="Times New Roman"/>
              </a:rPr>
              <a:t> </a:t>
            </a:r>
            <a:r>
              <a:rPr lang="en-IN" sz="4000" b="1" spc="300" dirty="0" smtClean="0">
                <a:latin typeface="Times New Roman"/>
                <a:ea typeface="Calibri"/>
                <a:cs typeface="Times New Roman"/>
              </a:rPr>
              <a:t>6.Designed Methodology</a:t>
            </a:r>
            <a:endParaRPr lang="en-IN" sz="4000" b="1" spc="300" dirty="0">
              <a:latin typeface="Times New Roman" panose="02020603050405020304" pitchFamily="18" charset="0"/>
              <a:ea typeface="Calibri"/>
              <a:cs typeface="Times New Roman" panose="02020603050405020304" pitchFamily="18" charset="0"/>
            </a:endParaRPr>
          </a:p>
        </p:txBody>
      </p:sp>
      <p:sp>
        <p:nvSpPr>
          <p:cNvPr id="3" name="Rectangle 2">
            <a:extLst>
              <a:ext uri="{FF2B5EF4-FFF2-40B4-BE49-F238E27FC236}">
                <a16:creationId xmlns:a16="http://schemas.microsoft.com/office/drawing/2014/main" id="{79B6F1DE-D2CC-F5BC-DC94-4E68790F6B20}"/>
              </a:ext>
            </a:extLst>
          </p:cNvPr>
          <p:cNvSpPr/>
          <p:nvPr/>
        </p:nvSpPr>
        <p:spPr>
          <a:xfrm>
            <a:off x="363415" y="170122"/>
            <a:ext cx="11418277" cy="6517758"/>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3599848" y="592935"/>
            <a:ext cx="5765531" cy="923330"/>
          </a:xfrm>
          <a:prstGeom prst="rect">
            <a:avLst/>
          </a:prstGeom>
          <a:noFill/>
        </p:spPr>
        <p:txBody>
          <a:bodyPr wrap="square" rtlCol="0">
            <a:spAutoFit/>
          </a:bodyPr>
          <a:lstStyle/>
          <a:p>
            <a:r>
              <a:rPr lang="en-GB" sz="5400" b="1" u="sng" dirty="0" smtClean="0">
                <a:solidFill>
                  <a:schemeClr val="accent2"/>
                </a:solidFill>
              </a:rPr>
              <a:t>_            ____    ___</a:t>
            </a:r>
            <a:endParaRPr lang="en-IN" sz="5400" b="1" u="sng" dirty="0">
              <a:solidFill>
                <a:schemeClr val="accent2"/>
              </a:solidFill>
            </a:endParaRPr>
          </a:p>
        </p:txBody>
      </p:sp>
      <p:sp>
        <p:nvSpPr>
          <p:cNvPr id="9" name="Rectangle 4"/>
          <p:cNvSpPr>
            <a:spLocks noGrp="1" noChangeArrowheads="1"/>
          </p:cNvSpPr>
          <p:nvPr>
            <p:ph idx="1"/>
          </p:nvPr>
        </p:nvSpPr>
        <p:spPr bwMode="auto">
          <a:xfrm>
            <a:off x="936533" y="1681110"/>
            <a:ext cx="10681529" cy="446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System Architecture Design:</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three-layer </a:t>
            </a:r>
            <a:r>
              <a:rPr lang="en-US" sz="2400" dirty="0" err="1">
                <a:latin typeface="Times New Roman" panose="02020603050405020304" pitchFamily="18" charset="0"/>
                <a:cs typeface="Times New Roman" panose="02020603050405020304" pitchFamily="18" charset="0"/>
              </a:rPr>
              <a:t>IoT</a:t>
            </a:r>
            <a:r>
              <a:rPr lang="en-US" sz="2400" dirty="0">
                <a:latin typeface="Times New Roman" panose="02020603050405020304" pitchFamily="18" charset="0"/>
                <a:cs typeface="Times New Roman" panose="02020603050405020304" pitchFamily="18" charset="0"/>
              </a:rPr>
              <a:t> architecture (sensing, edge processing, application) is designed to ensure modularity and efficient data flow. </a:t>
            </a:r>
          </a:p>
          <a:p>
            <a:r>
              <a:rPr lang="en-US" sz="2400" b="1" dirty="0">
                <a:latin typeface="Times New Roman" panose="02020603050405020304" pitchFamily="18" charset="0"/>
                <a:cs typeface="Times New Roman" panose="02020603050405020304" pitchFamily="18" charset="0"/>
              </a:rPr>
              <a:t>Hardware Integration:</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Sensors (DHT11, flame sensor) and camera are interfaced with Raspberry Pi for real-time data acquisition. </a:t>
            </a:r>
          </a:p>
          <a:p>
            <a:r>
              <a:rPr lang="en-US" sz="2400" b="1" dirty="0">
                <a:latin typeface="Times New Roman" panose="02020603050405020304" pitchFamily="18" charset="0"/>
                <a:cs typeface="Times New Roman" panose="02020603050405020304" pitchFamily="18" charset="0"/>
              </a:rPr>
              <a:t>Algorithm Development:</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YOLO-based deep learning model is implemented for accurate fire detection from video frames. </a:t>
            </a:r>
          </a:p>
          <a:p>
            <a:r>
              <a:rPr lang="en-US" sz="2400" b="1" dirty="0">
                <a:latin typeface="Times New Roman" panose="02020603050405020304" pitchFamily="18" charset="0"/>
                <a:cs typeface="Times New Roman" panose="02020603050405020304" pitchFamily="18" charset="0"/>
              </a:rPr>
              <a:t>Edge Implementation &amp; Integration:</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system processes all data locally on Raspberry Pi and integrates detection results with a Flask-based web dashboard for monitoring and alerts. </a:t>
            </a:r>
          </a:p>
        </p:txBody>
      </p:sp>
    </p:spTree>
    <p:extLst>
      <p:ext uri="{BB962C8B-B14F-4D97-AF65-F5344CB8AC3E}">
        <p14:creationId xmlns:p14="http://schemas.microsoft.com/office/powerpoint/2010/main" val="15680855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723" y="2524336"/>
            <a:ext cx="4899260" cy="922998"/>
          </a:xfrm>
        </p:spPr>
        <p:txBody>
          <a:bodyPr>
            <a:noAutofit/>
          </a:bodyPr>
          <a:lstStyle/>
          <a:p>
            <a:pPr algn="ctr"/>
            <a:r>
              <a:rPr lang="en-IN" sz="4000" b="1" spc="300" dirty="0" smtClean="0">
                <a:latin typeface="Times New Roman"/>
                <a:ea typeface="Calibri Light"/>
                <a:cs typeface="Calibri Light"/>
              </a:rPr>
              <a:t>7.Block Diagram</a:t>
            </a:r>
            <a:r>
              <a:rPr lang="en-IN" sz="4000" b="1" spc="300" dirty="0" smtClean="0">
                <a:latin typeface="Times New Roman"/>
                <a:ea typeface="Calibri Light"/>
                <a:cs typeface="Calibri Light"/>
              </a:rPr>
              <a:t>  </a:t>
            </a:r>
            <a:endParaRPr lang="en-IN" sz="4000" b="1" spc="300" dirty="0">
              <a:latin typeface="Times New Roman"/>
              <a:ea typeface="Calibri Light"/>
              <a:cs typeface="Calibri Light"/>
            </a:endParaRPr>
          </a:p>
        </p:txBody>
      </p:sp>
      <p:sp>
        <p:nvSpPr>
          <p:cNvPr id="7" name="Rectangle 6">
            <a:extLst>
              <a:ext uri="{FF2B5EF4-FFF2-40B4-BE49-F238E27FC236}">
                <a16:creationId xmlns:a16="http://schemas.microsoft.com/office/drawing/2014/main" id="{6AA77C43-7CDC-DC6E-A12E-A888A48FFBA7}"/>
              </a:ext>
            </a:extLst>
          </p:cNvPr>
          <p:cNvSpPr/>
          <p:nvPr/>
        </p:nvSpPr>
        <p:spPr>
          <a:xfrm>
            <a:off x="363415" y="132022"/>
            <a:ext cx="11418277" cy="6517758"/>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1620118" y="2602745"/>
            <a:ext cx="5075322" cy="923330"/>
          </a:xfrm>
          <a:prstGeom prst="rect">
            <a:avLst/>
          </a:prstGeom>
          <a:noFill/>
        </p:spPr>
        <p:txBody>
          <a:bodyPr wrap="square" rtlCol="0">
            <a:spAutoFit/>
          </a:bodyPr>
          <a:lstStyle/>
          <a:p>
            <a:r>
              <a:rPr lang="en-GB" sz="5400" b="1" u="sng" dirty="0">
                <a:solidFill>
                  <a:schemeClr val="accent2"/>
                </a:solidFill>
              </a:rPr>
              <a:t> </a:t>
            </a:r>
            <a:r>
              <a:rPr lang="en-GB" sz="5400" b="1" u="sng" dirty="0" smtClean="0">
                <a:solidFill>
                  <a:schemeClr val="accent2"/>
                </a:solidFill>
              </a:rPr>
              <a:t>  </a:t>
            </a:r>
            <a:r>
              <a:rPr lang="en-GB" sz="5400" b="1" u="sng" dirty="0" smtClean="0">
                <a:solidFill>
                  <a:schemeClr val="accent2"/>
                </a:solidFill>
              </a:rPr>
              <a:t>             ____</a:t>
            </a:r>
            <a:endParaRPr lang="en-IN" sz="5400" b="1" u="sng" dirty="0">
              <a:solidFill>
                <a:schemeClr val="accent2"/>
              </a:solidFill>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13" name="Picture 12"/>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6695440" y="257966"/>
            <a:ext cx="4349168" cy="6378736"/>
          </a:xfrm>
          <a:prstGeom prst="rect">
            <a:avLst/>
          </a:prstGeom>
          <a:noFill/>
          <a:ln>
            <a:noFill/>
          </a:ln>
          <a:effectLst>
            <a:outerShdw dist="50800" dir="5400000" algn="ctr" rotWithShape="0">
              <a:srgbClr val="000000">
                <a:alpha val="0"/>
              </a:srgbClr>
            </a:outerShdw>
            <a:reflection stA="45000" endPos="0" dist="50800" dir="5400000" sy="-100000" algn="bl" rotWithShape="0"/>
          </a:effectLst>
        </p:spPr>
      </p:pic>
    </p:spTree>
    <p:extLst>
      <p:ext uri="{BB962C8B-B14F-4D97-AF65-F5344CB8AC3E}">
        <p14:creationId xmlns:p14="http://schemas.microsoft.com/office/powerpoint/2010/main" val="32714299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9079" y="244888"/>
            <a:ext cx="3110126" cy="922998"/>
          </a:xfrm>
        </p:spPr>
        <p:txBody>
          <a:bodyPr>
            <a:noAutofit/>
          </a:bodyPr>
          <a:lstStyle/>
          <a:p>
            <a:pPr algn="ctr"/>
            <a:r>
              <a:rPr lang="en-IN" sz="4000" b="1" spc="300" dirty="0">
                <a:latin typeface="Times New Roman"/>
                <a:ea typeface="Calibri Light"/>
                <a:cs typeface="Calibri Light"/>
              </a:rPr>
              <a:t>8</a:t>
            </a:r>
            <a:r>
              <a:rPr lang="en-IN" sz="4000" b="1" spc="300" dirty="0" smtClean="0">
                <a:latin typeface="Times New Roman"/>
                <a:ea typeface="Calibri Light"/>
                <a:cs typeface="Calibri Light"/>
              </a:rPr>
              <a:t>.Materials  </a:t>
            </a:r>
            <a:endParaRPr lang="en-IN" sz="4000" b="1" spc="300" dirty="0">
              <a:latin typeface="Times New Roman"/>
              <a:ea typeface="Calibri Light"/>
              <a:cs typeface="Calibri Light"/>
            </a:endParaRPr>
          </a:p>
        </p:txBody>
      </p:sp>
      <p:sp>
        <p:nvSpPr>
          <p:cNvPr id="3" name="Content Placeholder 2"/>
          <p:cNvSpPr>
            <a:spLocks noGrp="1"/>
          </p:cNvSpPr>
          <p:nvPr>
            <p:ph idx="1"/>
          </p:nvPr>
        </p:nvSpPr>
        <p:spPr>
          <a:xfrm>
            <a:off x="726090" y="1167886"/>
            <a:ext cx="10115409" cy="5175063"/>
          </a:xfrm>
        </p:spPr>
        <p:txBody>
          <a:bodyPr vert="horz" lIns="91440" tIns="45720" rIns="91440" bIns="45720" rtlCol="0" anchor="t">
            <a:noAutofit/>
          </a:bodyPr>
          <a:lstStyle/>
          <a:p>
            <a:r>
              <a:rPr lang="en-US" sz="2400" b="1" dirty="0" smtClean="0">
                <a:latin typeface="Times New Roman" panose="02020603050405020304" pitchFamily="18" charset="0"/>
                <a:cs typeface="Times New Roman" panose="02020603050405020304" pitchFamily="18" charset="0"/>
              </a:rPr>
              <a:t>Raspberry </a:t>
            </a:r>
            <a:r>
              <a:rPr lang="en-US" sz="2400" b="1" dirty="0">
                <a:latin typeface="Times New Roman" panose="02020603050405020304" pitchFamily="18" charset="0"/>
                <a:cs typeface="Times New Roman" panose="02020603050405020304" pitchFamily="18" charset="0"/>
              </a:rPr>
              <a:t>Pi 4 Model B</a:t>
            </a:r>
            <a:r>
              <a:rPr lang="en-US" sz="2400" dirty="0">
                <a:latin typeface="Times New Roman" panose="02020603050405020304" pitchFamily="18" charset="0"/>
                <a:cs typeface="Times New Roman" panose="02020603050405020304" pitchFamily="18" charset="0"/>
              </a:rPr>
              <a:t> </a:t>
            </a:r>
          </a:p>
          <a:p>
            <a:pPr lvl="1"/>
            <a:r>
              <a:rPr lang="en-US" sz="1800" dirty="0">
                <a:latin typeface="Times New Roman" panose="02020603050405020304" pitchFamily="18" charset="0"/>
                <a:cs typeface="Times New Roman" panose="02020603050405020304" pitchFamily="18" charset="0"/>
              </a:rPr>
              <a:t>Operating voltage: 5V / 3A </a:t>
            </a:r>
          </a:p>
          <a:p>
            <a:r>
              <a:rPr lang="en-US" sz="2400" b="1" dirty="0">
                <a:latin typeface="Times New Roman" panose="02020603050405020304" pitchFamily="18" charset="0"/>
                <a:cs typeface="Times New Roman" panose="02020603050405020304" pitchFamily="18" charset="0"/>
              </a:rPr>
              <a:t>DHT11 Temperature &amp; Humidity Sensor</a:t>
            </a:r>
            <a:r>
              <a:rPr lang="en-US" sz="2400" dirty="0">
                <a:latin typeface="Times New Roman" panose="02020603050405020304" pitchFamily="18" charset="0"/>
                <a:cs typeface="Times New Roman" panose="02020603050405020304" pitchFamily="18" charset="0"/>
              </a:rPr>
              <a:t> </a:t>
            </a:r>
          </a:p>
          <a:p>
            <a:pPr lvl="1"/>
            <a:r>
              <a:rPr lang="en-US" sz="1800" dirty="0">
                <a:latin typeface="Times New Roman" panose="02020603050405020304" pitchFamily="18" charset="0"/>
                <a:cs typeface="Times New Roman" panose="02020603050405020304" pitchFamily="18" charset="0"/>
              </a:rPr>
              <a:t>Temperature range: 0°C to 50°C </a:t>
            </a:r>
          </a:p>
          <a:p>
            <a:pPr lvl="1"/>
            <a:r>
              <a:rPr lang="en-US" sz="1800" dirty="0">
                <a:latin typeface="Times New Roman" panose="02020603050405020304" pitchFamily="18" charset="0"/>
                <a:cs typeface="Times New Roman" panose="02020603050405020304" pitchFamily="18" charset="0"/>
              </a:rPr>
              <a:t>Humidity range: 20% to 80% RH </a:t>
            </a:r>
          </a:p>
          <a:p>
            <a:r>
              <a:rPr lang="en-US" sz="2400" b="1" dirty="0">
                <a:latin typeface="Times New Roman" panose="02020603050405020304" pitchFamily="18" charset="0"/>
                <a:cs typeface="Times New Roman" panose="02020603050405020304" pitchFamily="18" charset="0"/>
              </a:rPr>
              <a:t>Flame Sensor (IR-based)</a:t>
            </a:r>
            <a:r>
              <a:rPr lang="en-US" sz="2400" dirty="0">
                <a:latin typeface="Times New Roman" panose="02020603050405020304" pitchFamily="18" charset="0"/>
                <a:cs typeface="Times New Roman" panose="02020603050405020304" pitchFamily="18" charset="0"/>
              </a:rPr>
              <a:t> </a:t>
            </a:r>
          </a:p>
          <a:p>
            <a:pPr lvl="1"/>
            <a:r>
              <a:rPr lang="en-US" sz="1800" dirty="0">
                <a:latin typeface="Times New Roman" panose="02020603050405020304" pitchFamily="18" charset="0"/>
                <a:cs typeface="Times New Roman" panose="02020603050405020304" pitchFamily="18" charset="0"/>
              </a:rPr>
              <a:t>Detection range: up to ~1 meter </a:t>
            </a:r>
          </a:p>
          <a:p>
            <a:pPr lvl="1"/>
            <a:r>
              <a:rPr lang="en-US" sz="1800" dirty="0">
                <a:latin typeface="Times New Roman" panose="02020603050405020304" pitchFamily="18" charset="0"/>
                <a:cs typeface="Times New Roman" panose="02020603050405020304" pitchFamily="18" charset="0"/>
              </a:rPr>
              <a:t>Detection wavelength: 760nm to 1100nm </a:t>
            </a:r>
          </a:p>
          <a:p>
            <a:r>
              <a:rPr lang="en-US" sz="2400" b="1" dirty="0">
                <a:latin typeface="Times New Roman" panose="02020603050405020304" pitchFamily="18" charset="0"/>
                <a:cs typeface="Times New Roman" panose="02020603050405020304" pitchFamily="18" charset="0"/>
              </a:rPr>
              <a:t>Camera Module (USB / Pi Camera)</a:t>
            </a:r>
            <a:r>
              <a:rPr lang="en-US" sz="2400" dirty="0">
                <a:latin typeface="Times New Roman" panose="02020603050405020304" pitchFamily="18" charset="0"/>
                <a:cs typeface="Times New Roman" panose="02020603050405020304" pitchFamily="18" charset="0"/>
              </a:rPr>
              <a:t> </a:t>
            </a:r>
          </a:p>
          <a:p>
            <a:pPr lvl="1"/>
            <a:r>
              <a:rPr lang="en-US" sz="1800" dirty="0">
                <a:latin typeface="Times New Roman" panose="02020603050405020304" pitchFamily="18" charset="0"/>
                <a:cs typeface="Times New Roman" panose="02020603050405020304" pitchFamily="18" charset="0"/>
              </a:rPr>
              <a:t>Operational resolution: ~640×480 (for real-time processing) </a:t>
            </a:r>
          </a:p>
          <a:p>
            <a:pPr lvl="1"/>
            <a:r>
              <a:rPr lang="en-US" sz="1800" dirty="0">
                <a:latin typeface="Times New Roman" panose="02020603050405020304" pitchFamily="18" charset="0"/>
                <a:cs typeface="Times New Roman" panose="02020603050405020304" pitchFamily="18" charset="0"/>
              </a:rPr>
              <a:t>Frame rate: ~15–30 FPS </a:t>
            </a:r>
          </a:p>
          <a:p>
            <a:r>
              <a:rPr lang="en-US" sz="2400" b="1" dirty="0">
                <a:latin typeface="Times New Roman" panose="02020603050405020304" pitchFamily="18" charset="0"/>
                <a:cs typeface="Times New Roman" panose="02020603050405020304" pitchFamily="18" charset="0"/>
              </a:rPr>
              <a:t>Power Supply Unit</a:t>
            </a:r>
            <a:r>
              <a:rPr lang="en-US" sz="2400" dirty="0">
                <a:latin typeface="Times New Roman" panose="02020603050405020304" pitchFamily="18" charset="0"/>
                <a:cs typeface="Times New Roman" panose="02020603050405020304" pitchFamily="18" charset="0"/>
              </a:rPr>
              <a:t> </a:t>
            </a:r>
          </a:p>
          <a:p>
            <a:pPr lvl="1"/>
            <a:r>
              <a:rPr lang="en-US" sz="1800" dirty="0">
                <a:latin typeface="Times New Roman" panose="02020603050405020304" pitchFamily="18" charset="0"/>
                <a:cs typeface="Times New Roman" panose="02020603050405020304" pitchFamily="18" charset="0"/>
              </a:rPr>
              <a:t>Input requirement: 5V / 3A </a:t>
            </a:r>
          </a:p>
          <a:p>
            <a:pPr lvl="1"/>
            <a:r>
              <a:rPr lang="en-US" sz="1800" dirty="0">
                <a:latin typeface="Times New Roman" panose="02020603050405020304" pitchFamily="18" charset="0"/>
                <a:cs typeface="Times New Roman" panose="02020603050405020304" pitchFamily="18" charset="0"/>
              </a:rPr>
              <a:t>Supports battery / solar-based operation </a:t>
            </a:r>
          </a:p>
        </p:txBody>
      </p:sp>
      <p:sp>
        <p:nvSpPr>
          <p:cNvPr id="7" name="Rectangle 6">
            <a:extLst>
              <a:ext uri="{FF2B5EF4-FFF2-40B4-BE49-F238E27FC236}">
                <a16:creationId xmlns:a16="http://schemas.microsoft.com/office/drawing/2014/main" id="{6AA77C43-7CDC-DC6E-A12E-A888A48FFBA7}"/>
              </a:ext>
            </a:extLst>
          </p:cNvPr>
          <p:cNvSpPr/>
          <p:nvPr/>
        </p:nvSpPr>
        <p:spPr>
          <a:xfrm>
            <a:off x="363415" y="132022"/>
            <a:ext cx="11418277" cy="6517758"/>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4890895" y="292714"/>
            <a:ext cx="2689472" cy="923330"/>
          </a:xfrm>
          <a:prstGeom prst="rect">
            <a:avLst/>
          </a:prstGeom>
          <a:noFill/>
        </p:spPr>
        <p:txBody>
          <a:bodyPr wrap="square" rtlCol="0">
            <a:spAutoFit/>
          </a:bodyPr>
          <a:lstStyle/>
          <a:p>
            <a:r>
              <a:rPr lang="en-GB" sz="5400" b="1" u="sng" dirty="0" smtClean="0">
                <a:solidFill>
                  <a:schemeClr val="accent2"/>
                </a:solidFill>
              </a:rPr>
              <a:t>_______</a:t>
            </a:r>
            <a:endParaRPr lang="en-IN" sz="5400" b="1" u="sng" dirty="0">
              <a:solidFill>
                <a:schemeClr val="accent2"/>
              </a:solidFill>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52270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71A67-8D2F-C632-33EE-8228633BA29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7D83531-8E27-6B68-FD37-E1306FF1DB7F}"/>
              </a:ext>
            </a:extLst>
          </p:cNvPr>
          <p:cNvSpPr/>
          <p:nvPr/>
        </p:nvSpPr>
        <p:spPr>
          <a:xfrm>
            <a:off x="386861" y="170122"/>
            <a:ext cx="11418277" cy="6517758"/>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8705456" y="576475"/>
            <a:ext cx="2512638" cy="3851564"/>
          </a:xfrm>
          <a:prstGeom prst="rect">
            <a:avLst/>
          </a:prstGeom>
        </p:spPr>
      </p:pic>
      <p:sp>
        <p:nvSpPr>
          <p:cNvPr id="6" name="TextBox 5"/>
          <p:cNvSpPr txBox="1"/>
          <p:nvPr/>
        </p:nvSpPr>
        <p:spPr>
          <a:xfrm>
            <a:off x="1158756" y="4316212"/>
            <a:ext cx="2922434" cy="369332"/>
          </a:xfrm>
          <a:prstGeom prst="rect">
            <a:avLst/>
          </a:prstGeom>
          <a:noFill/>
        </p:spPr>
        <p:txBody>
          <a:bodyPr wrap="square" rtlCol="0">
            <a:spAutoFit/>
          </a:bodyPr>
          <a:lstStyle/>
          <a:p>
            <a:pPr algn="ctr"/>
            <a:r>
              <a:rPr lang="en-GB" b="1" dirty="0" smtClean="0">
                <a:latin typeface="Times New Roman" panose="02020603050405020304" pitchFamily="18" charset="0"/>
                <a:cs typeface="Times New Roman" panose="02020603050405020304" pitchFamily="18" charset="0"/>
              </a:rPr>
              <a:t>DHT11 &amp; Humidity sensor</a:t>
            </a:r>
            <a:endParaRPr lang="en-IN"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5037482" y="4604958"/>
            <a:ext cx="2446258" cy="369332"/>
          </a:xfrm>
          <a:prstGeom prst="rect">
            <a:avLst/>
          </a:prstGeom>
          <a:noFill/>
        </p:spPr>
        <p:txBody>
          <a:bodyPr wrap="square" rtlCol="0">
            <a:spAutoFit/>
          </a:bodyPr>
          <a:lstStyle/>
          <a:p>
            <a:pPr algn="ctr"/>
            <a:r>
              <a:rPr lang="en-GB" b="1" dirty="0">
                <a:latin typeface="Times New Roman" panose="02020603050405020304" pitchFamily="18" charset="0"/>
                <a:cs typeface="Times New Roman" panose="02020603050405020304" pitchFamily="18" charset="0"/>
              </a:rPr>
              <a:t>Flame sensor</a:t>
            </a:r>
            <a:endParaRPr lang="en-IN"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8756419" y="3946880"/>
            <a:ext cx="2847797" cy="369332"/>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Raspberry pi with camera</a:t>
            </a:r>
            <a:endParaRPr lang="en-IN" b="1" dirty="0">
              <a:latin typeface="Times New Roman" panose="02020603050405020304" pitchFamily="18" charset="0"/>
              <a:cs typeface="Times New Roman" panose="02020603050405020304" pitchFamily="18" charset="0"/>
            </a:endParaRPr>
          </a:p>
        </p:txBody>
      </p:sp>
      <p:pic>
        <p:nvPicPr>
          <p:cNvPr id="22" name="Picture 21" descr="DHT11 Temperature and Humidity Sensor: Pinout, Specifications, Wiring, and  Applications"/>
          <p:cNvPicPr/>
          <p:nvPr/>
        </p:nvPicPr>
        <p:blipFill>
          <a:blip r:embed="rId4">
            <a:extLst>
              <a:ext uri="{28A0092B-C50C-407E-A947-70E740481C1C}">
                <a14:useLocalDpi xmlns:a14="http://schemas.microsoft.com/office/drawing/2010/main" val="0"/>
              </a:ext>
            </a:extLst>
          </a:blip>
          <a:srcRect/>
          <a:stretch>
            <a:fillRect/>
          </a:stretch>
        </p:blipFill>
        <p:spPr bwMode="auto">
          <a:xfrm>
            <a:off x="222023" y="1828701"/>
            <a:ext cx="4413250" cy="2250440"/>
          </a:xfrm>
          <a:prstGeom prst="rect">
            <a:avLst/>
          </a:prstGeom>
          <a:noFill/>
          <a:ln>
            <a:noFill/>
          </a:ln>
        </p:spPr>
      </p:pic>
      <p:pic>
        <p:nvPicPr>
          <p:cNvPr id="23" name="Picture 22"/>
          <p:cNvPicPr/>
          <p:nvPr/>
        </p:nvPicPr>
        <p:blipFill>
          <a:blip r:embed="rId5"/>
          <a:stretch>
            <a:fillRect/>
          </a:stretch>
        </p:blipFill>
        <p:spPr>
          <a:xfrm>
            <a:off x="4800111" y="961191"/>
            <a:ext cx="2921000" cy="3355021"/>
          </a:xfrm>
          <a:prstGeom prst="rect">
            <a:avLst/>
          </a:prstGeom>
        </p:spPr>
      </p:pic>
    </p:spTree>
    <p:extLst>
      <p:ext uri="{BB962C8B-B14F-4D97-AF65-F5344CB8AC3E}">
        <p14:creationId xmlns:p14="http://schemas.microsoft.com/office/powerpoint/2010/main" val="13235169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2B97F24A-32CE-4C1C-A50D-3016B394DC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8A686B-DEAC-45B0-E6C4-6AF1A0B3E366}"/>
              </a:ext>
            </a:extLst>
          </p:cNvPr>
          <p:cNvSpPr>
            <a:spLocks noGrp="1"/>
          </p:cNvSpPr>
          <p:nvPr>
            <p:ph type="title"/>
          </p:nvPr>
        </p:nvSpPr>
        <p:spPr>
          <a:xfrm>
            <a:off x="643278" y="1436305"/>
            <a:ext cx="3429000" cy="973056"/>
          </a:xfrm>
        </p:spPr>
        <p:txBody>
          <a:bodyPr anchor="b">
            <a:normAutofit/>
          </a:bodyPr>
          <a:lstStyle/>
          <a:p>
            <a:r>
              <a:rPr lang="en-US" sz="4000" b="1" spc="300" dirty="0">
                <a:latin typeface="Times New Roman"/>
                <a:ea typeface="Calibri Light"/>
                <a:cs typeface="Calibri Light"/>
              </a:rPr>
              <a:t>9</a:t>
            </a:r>
            <a:r>
              <a:rPr lang="en-US" sz="4000" b="1" spc="300" dirty="0" smtClean="0">
                <a:latin typeface="Times New Roman"/>
                <a:ea typeface="Calibri Light"/>
                <a:cs typeface="Calibri Light"/>
              </a:rPr>
              <a:t>.Working</a:t>
            </a:r>
            <a:endParaRPr lang="en-US" sz="5400" b="1" spc="300" dirty="0">
              <a:latin typeface="Times New Roman"/>
              <a:cs typeface="Times New Roman"/>
            </a:endParaRPr>
          </a:p>
        </p:txBody>
      </p:sp>
      <p:sp>
        <p:nvSpPr>
          <p:cNvPr id="3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Content Placeholder 7">
            <a:extLst>
              <a:ext uri="{FF2B5EF4-FFF2-40B4-BE49-F238E27FC236}">
                <a16:creationId xmlns:a16="http://schemas.microsoft.com/office/drawing/2014/main" id="{B7268B5D-4290-A698-B2DE-9DAB6287B661}"/>
              </a:ext>
            </a:extLst>
          </p:cNvPr>
          <p:cNvSpPr>
            <a:spLocks noGrp="1"/>
          </p:cNvSpPr>
          <p:nvPr>
            <p:ph idx="1"/>
          </p:nvPr>
        </p:nvSpPr>
        <p:spPr>
          <a:xfrm>
            <a:off x="382465" y="3199734"/>
            <a:ext cx="11771697" cy="3104814"/>
          </a:xfrm>
        </p:spPr>
        <p:txBody>
          <a:bodyPr vert="horz" lIns="91440" tIns="45720" rIns="91440" bIns="45720" rtlCol="0" anchor="t">
            <a:noAutofit/>
          </a:bodyPr>
          <a:lstStyle/>
          <a:p>
            <a:pPr>
              <a:lnSpc>
                <a:spcPct val="150000"/>
              </a:lnSpc>
            </a:pPr>
            <a:r>
              <a:rPr lang="en-US" sz="2200" b="1" dirty="0">
                <a:latin typeface="Times New Roman" panose="02020603050405020304" pitchFamily="18" charset="0"/>
                <a:cs typeface="Times New Roman" panose="02020603050405020304" pitchFamily="18" charset="0"/>
              </a:rPr>
              <a:t>Sensing Layer:</a:t>
            </a:r>
            <a:r>
              <a:rPr lang="en-US" sz="2200" dirty="0">
                <a:latin typeface="Times New Roman" panose="02020603050405020304" pitchFamily="18" charset="0"/>
                <a:cs typeface="Times New Roman" panose="02020603050405020304" pitchFamily="18" charset="0"/>
              </a:rPr>
              <a:t> Collects real-time environmental and visual data using DHT11, flame sensor, and camera. </a:t>
            </a:r>
          </a:p>
          <a:p>
            <a:pPr>
              <a:lnSpc>
                <a:spcPct val="150000"/>
              </a:lnSpc>
            </a:pPr>
            <a:r>
              <a:rPr lang="en-US" sz="2200" b="1" dirty="0">
                <a:latin typeface="Times New Roman" panose="02020603050405020304" pitchFamily="18" charset="0"/>
                <a:cs typeface="Times New Roman" panose="02020603050405020304" pitchFamily="18" charset="0"/>
              </a:rPr>
              <a:t>Edge Processing Layer:</a:t>
            </a:r>
            <a:r>
              <a:rPr lang="en-US" sz="2200" dirty="0">
                <a:latin typeface="Times New Roman" panose="02020603050405020304" pitchFamily="18" charset="0"/>
                <a:cs typeface="Times New Roman" panose="02020603050405020304" pitchFamily="18" charset="0"/>
              </a:rPr>
              <a:t> Processes sensor and video data on Raspberry Pi using YOLO to detect fire in real time. </a:t>
            </a:r>
          </a:p>
          <a:p>
            <a:pPr>
              <a:lnSpc>
                <a:spcPct val="150000"/>
              </a:lnSpc>
            </a:pPr>
            <a:r>
              <a:rPr lang="en-US" sz="2200" b="1" dirty="0">
                <a:latin typeface="Times New Roman" panose="02020603050405020304" pitchFamily="18" charset="0"/>
                <a:cs typeface="Times New Roman" panose="02020603050405020304" pitchFamily="18" charset="0"/>
              </a:rPr>
              <a:t>Application Layer:</a:t>
            </a:r>
            <a:r>
              <a:rPr lang="en-US" sz="2200" dirty="0">
                <a:latin typeface="Times New Roman" panose="02020603050405020304" pitchFamily="18" charset="0"/>
                <a:cs typeface="Times New Roman" panose="02020603050405020304" pitchFamily="18" charset="0"/>
              </a:rPr>
              <a:t> Displays data and generates alerts through a Flask-based web dashboard. </a:t>
            </a:r>
          </a:p>
          <a:p>
            <a:pPr marL="0" indent="0">
              <a:buNone/>
            </a:pPr>
            <a:endParaRPr lang="en-GB" sz="22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54E435BA-2F78-AE15-D8D7-E2A8C459D215}"/>
              </a:ext>
            </a:extLst>
          </p:cNvPr>
          <p:cNvSpPr/>
          <p:nvPr/>
        </p:nvSpPr>
        <p:spPr>
          <a:xfrm>
            <a:off x="382465" y="26230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3891" y="262304"/>
            <a:ext cx="6521674" cy="2968044"/>
          </a:xfrm>
          <a:prstGeom prst="rect">
            <a:avLst/>
          </a:prstGeom>
        </p:spPr>
      </p:pic>
      <p:sp>
        <p:nvSpPr>
          <p:cNvPr id="4" name="TextBox 3"/>
          <p:cNvSpPr txBox="1"/>
          <p:nvPr/>
        </p:nvSpPr>
        <p:spPr>
          <a:xfrm>
            <a:off x="4906475" y="262304"/>
            <a:ext cx="2105891" cy="369332"/>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Flow diagram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00216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603" y="398450"/>
            <a:ext cx="9867899" cy="1153035"/>
          </a:xfrm>
        </p:spPr>
        <p:txBody>
          <a:bodyPr>
            <a:noAutofit/>
          </a:bodyPr>
          <a:lstStyle/>
          <a:p>
            <a:pPr algn="ctr"/>
            <a:r>
              <a:rPr lang="en-IN" sz="4000" b="1" spc="300" dirty="0" smtClean="0">
                <a:latin typeface="Times New Roman"/>
                <a:ea typeface="Calibri Light"/>
                <a:cs typeface="Calibri Light"/>
              </a:rPr>
              <a:t>10. </a:t>
            </a:r>
            <a:r>
              <a:rPr lang="en-IN" sz="4000" b="1" spc="300" dirty="0" smtClean="0">
                <a:latin typeface="Times New Roman"/>
                <a:ea typeface="Calibri Light"/>
                <a:cs typeface="Calibri Light"/>
              </a:rPr>
              <a:t>Prototype</a:t>
            </a:r>
            <a:endParaRPr lang="en-IN" sz="4000" b="1" spc="300" dirty="0">
              <a:latin typeface="Times New Roman"/>
              <a:ea typeface="Calibri Light"/>
              <a:cs typeface="Calibri Light"/>
            </a:endParaRPr>
          </a:p>
        </p:txBody>
      </p:sp>
      <p:sp>
        <p:nvSpPr>
          <p:cNvPr id="5" name="Rectangle 4">
            <a:extLst>
              <a:ext uri="{FF2B5EF4-FFF2-40B4-BE49-F238E27FC236}">
                <a16:creationId xmlns:a16="http://schemas.microsoft.com/office/drawing/2014/main" id="{FD56104F-3188-9EB5-D359-D5F22C5297E8}"/>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5147511" y="513302"/>
            <a:ext cx="2747210" cy="923330"/>
          </a:xfrm>
          <a:prstGeom prst="rect">
            <a:avLst/>
          </a:prstGeom>
        </p:spPr>
        <p:txBody>
          <a:bodyPr wrap="square">
            <a:spAutoFit/>
          </a:bodyPr>
          <a:lstStyle/>
          <a:p>
            <a:r>
              <a:rPr lang="en-GB" sz="5400" u="sng" dirty="0" smtClean="0">
                <a:solidFill>
                  <a:schemeClr val="accent2"/>
                </a:solidFill>
                <a:latin typeface="Times New Roman" panose="02020603050405020304" pitchFamily="18" charset="0"/>
                <a:cs typeface="Times New Roman" panose="02020603050405020304" pitchFamily="18" charset="0"/>
              </a:rPr>
              <a:t>_______</a:t>
            </a:r>
            <a:endParaRPr lang="en-IN" sz="5400" u="sng" dirty="0">
              <a:solidFill>
                <a:schemeClr val="accent2"/>
              </a:solidFill>
              <a:latin typeface="Times New Roman" panose="02020603050405020304" pitchFamily="18" charset="0"/>
              <a:cs typeface="Times New Roman" panose="02020603050405020304" pitchFamily="18" charset="0"/>
            </a:endParaRPr>
          </a:p>
        </p:txBody>
      </p:sp>
      <p:pic>
        <p:nvPicPr>
          <p:cNvPr id="6" name="Content Placeholder 5"/>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rot="5400000">
            <a:off x="3975818" y="-490303"/>
            <a:ext cx="4638212" cy="8951497"/>
          </a:xfrm>
          <a:prstGeom prst="rect">
            <a:avLst/>
          </a:prstGeom>
        </p:spPr>
      </p:pic>
    </p:spTree>
    <p:extLst>
      <p:ext uri="{BB962C8B-B14F-4D97-AF65-F5344CB8AC3E}">
        <p14:creationId xmlns:p14="http://schemas.microsoft.com/office/powerpoint/2010/main" val="19268103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8071" y="128976"/>
            <a:ext cx="7310401" cy="1153035"/>
          </a:xfrm>
        </p:spPr>
        <p:txBody>
          <a:bodyPr>
            <a:noAutofit/>
          </a:bodyPr>
          <a:lstStyle/>
          <a:p>
            <a:pPr algn="ctr"/>
            <a:r>
              <a:rPr lang="en-IN" sz="3200" b="1" spc="300" dirty="0" smtClean="0">
                <a:latin typeface="Times New Roman"/>
                <a:ea typeface="Calibri Light"/>
                <a:cs typeface="Calibri Light"/>
              </a:rPr>
              <a:t>11</a:t>
            </a:r>
            <a:r>
              <a:rPr lang="en-IN" sz="3200" b="1" spc="300" dirty="0" smtClean="0">
                <a:latin typeface="Times New Roman"/>
                <a:ea typeface="Calibri Light"/>
                <a:cs typeface="Calibri Light"/>
              </a:rPr>
              <a:t>. </a:t>
            </a:r>
            <a:r>
              <a:rPr lang="en-IN" sz="3200" b="1" spc="300" dirty="0" smtClean="0">
                <a:latin typeface="Times New Roman"/>
                <a:ea typeface="Calibri Light"/>
                <a:cs typeface="Calibri Light"/>
              </a:rPr>
              <a:t>Implementation Details</a:t>
            </a:r>
            <a:endParaRPr lang="en-IN" sz="3200" b="1" spc="300" dirty="0">
              <a:latin typeface="Times New Roman"/>
              <a:ea typeface="Calibri Light"/>
              <a:cs typeface="Calibri Light"/>
            </a:endParaRPr>
          </a:p>
        </p:txBody>
      </p:sp>
      <p:sp>
        <p:nvSpPr>
          <p:cNvPr id="3" name="Content Placeholder 2"/>
          <p:cNvSpPr>
            <a:spLocks noGrp="1"/>
          </p:cNvSpPr>
          <p:nvPr>
            <p:ph idx="1"/>
          </p:nvPr>
        </p:nvSpPr>
        <p:spPr>
          <a:xfrm>
            <a:off x="612439" y="963444"/>
            <a:ext cx="11169253" cy="5594007"/>
          </a:xfrm>
        </p:spPr>
        <p:txBody>
          <a:bodyPr vert="horz" lIns="91440" tIns="45720" rIns="91440" bIns="45720" rtlCol="0" anchor="t">
            <a:noAutofit/>
          </a:bodyPr>
          <a:lstStyle/>
          <a:p>
            <a:pPr>
              <a:lnSpc>
                <a:spcPct val="100000"/>
              </a:lnSpc>
            </a:pPr>
            <a:r>
              <a:rPr lang="en-US" sz="2200" b="1" dirty="0">
                <a:latin typeface="Times New Roman" panose="02020603050405020304" pitchFamily="18" charset="0"/>
                <a:cs typeface="Times New Roman" panose="02020603050405020304" pitchFamily="18" charset="0"/>
              </a:rPr>
              <a:t>Hardware Setup:</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The Raspberry Pi 4 is interfaced with DHT11 and flame sensors through GPIO pins, while a USB/Pi camera is connected for continuous video capture. </a:t>
            </a:r>
          </a:p>
          <a:p>
            <a:pPr>
              <a:lnSpc>
                <a:spcPct val="100000"/>
              </a:lnSpc>
            </a:pPr>
            <a:r>
              <a:rPr lang="en-US" sz="2200" b="1" dirty="0">
                <a:latin typeface="Times New Roman" panose="02020603050405020304" pitchFamily="18" charset="0"/>
                <a:cs typeface="Times New Roman" panose="02020603050405020304" pitchFamily="18" charset="0"/>
              </a:rPr>
              <a:t>Sensor Integration:</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Temperature, humidity, and flame data are periodically read using Python libraries and stored for real-time processing. </a:t>
            </a:r>
          </a:p>
          <a:p>
            <a:pPr>
              <a:lnSpc>
                <a:spcPct val="100000"/>
              </a:lnSpc>
            </a:pPr>
            <a:r>
              <a:rPr lang="en-US" sz="2200" b="1" dirty="0">
                <a:latin typeface="Times New Roman" panose="02020603050405020304" pitchFamily="18" charset="0"/>
                <a:cs typeface="Times New Roman" panose="02020603050405020304" pitchFamily="18" charset="0"/>
              </a:rPr>
              <a:t>Fire Detection Algorithm:</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YOLOv8 model is deployed on the Raspberry Pi to analyze video frames and detect fire regions with bounding boxes and confidence scores. </a:t>
            </a:r>
          </a:p>
          <a:p>
            <a:pPr>
              <a:lnSpc>
                <a:spcPct val="100000"/>
              </a:lnSpc>
            </a:pPr>
            <a:r>
              <a:rPr lang="en-US" sz="2200" b="1" dirty="0">
                <a:latin typeface="Times New Roman" panose="02020603050405020304" pitchFamily="18" charset="0"/>
                <a:cs typeface="Times New Roman" panose="02020603050405020304" pitchFamily="18" charset="0"/>
              </a:rPr>
              <a:t>Multithreaded Processing:</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Separate threads are used for sensor data collection, video processing, and web server execution to ensure smooth real-time performance. </a:t>
            </a:r>
          </a:p>
          <a:p>
            <a:pPr>
              <a:lnSpc>
                <a:spcPct val="100000"/>
              </a:lnSpc>
            </a:pPr>
            <a:r>
              <a:rPr lang="en-US" sz="2200" b="1" dirty="0">
                <a:latin typeface="Times New Roman" panose="02020603050405020304" pitchFamily="18" charset="0"/>
                <a:cs typeface="Times New Roman" panose="02020603050405020304" pitchFamily="18" charset="0"/>
              </a:rPr>
              <a:t>Web Dashboard &amp; Alerts:</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Flask-based application displays live video, sensor data, and generates alerts when fire is detected</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D56104F-3188-9EB5-D359-D5F22C5297E8}"/>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3961599" y="320774"/>
            <a:ext cx="6202679" cy="769441"/>
          </a:xfrm>
          <a:prstGeom prst="rect">
            <a:avLst/>
          </a:prstGeom>
        </p:spPr>
        <p:txBody>
          <a:bodyPr wrap="square">
            <a:spAutoFit/>
          </a:bodyPr>
          <a:lstStyle/>
          <a:p>
            <a:r>
              <a:rPr lang="en-GB" sz="4400" b="1" u="sng" dirty="0" smtClean="0">
                <a:solidFill>
                  <a:schemeClr val="accent2"/>
                </a:solidFill>
                <a:latin typeface="Times New Roman" panose="02020603050405020304" pitchFamily="18" charset="0"/>
                <a:cs typeface="Times New Roman" panose="02020603050405020304" pitchFamily="18" charset="0"/>
              </a:rPr>
              <a:t>__________________</a:t>
            </a:r>
            <a:endParaRPr lang="en-IN" sz="4800" b="1" u="sng"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2320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474" y="736588"/>
            <a:ext cx="9867899" cy="1153035"/>
          </a:xfrm>
        </p:spPr>
        <p:txBody>
          <a:bodyPr>
            <a:noAutofit/>
          </a:bodyPr>
          <a:lstStyle/>
          <a:p>
            <a:pPr algn="ctr"/>
            <a:r>
              <a:rPr lang="en-IN" sz="3200" b="1" spc="300" dirty="0" smtClean="0">
                <a:latin typeface="Times New Roman"/>
                <a:ea typeface="Calibri Light"/>
                <a:cs typeface="Calibri Light"/>
              </a:rPr>
              <a:t>12</a:t>
            </a:r>
            <a:r>
              <a:rPr lang="en-IN" sz="3200" b="1" spc="300" dirty="0" smtClean="0">
                <a:latin typeface="Times New Roman"/>
                <a:ea typeface="Calibri Light"/>
                <a:cs typeface="Calibri Light"/>
              </a:rPr>
              <a:t>. </a:t>
            </a:r>
            <a:r>
              <a:rPr lang="en-IN" sz="3200" b="1" spc="300" dirty="0" smtClean="0">
                <a:latin typeface="Times New Roman"/>
                <a:ea typeface="Calibri Light"/>
                <a:cs typeface="Calibri Light"/>
              </a:rPr>
              <a:t>Key Observations</a:t>
            </a:r>
            <a:endParaRPr lang="en-IN" sz="3200" b="1" spc="300" dirty="0">
              <a:latin typeface="Times New Roman"/>
              <a:ea typeface="Calibri Light"/>
              <a:cs typeface="Calibri Light"/>
            </a:endParaRPr>
          </a:p>
        </p:txBody>
      </p:sp>
      <p:sp>
        <p:nvSpPr>
          <p:cNvPr id="5" name="Rectangle 4">
            <a:extLst>
              <a:ext uri="{FF2B5EF4-FFF2-40B4-BE49-F238E27FC236}">
                <a16:creationId xmlns:a16="http://schemas.microsoft.com/office/drawing/2014/main" id="{FD56104F-3188-9EB5-D359-D5F22C5297E8}"/>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3946159" y="851440"/>
            <a:ext cx="5284469" cy="923330"/>
          </a:xfrm>
          <a:prstGeom prst="rect">
            <a:avLst/>
          </a:prstGeom>
        </p:spPr>
        <p:txBody>
          <a:bodyPr wrap="square">
            <a:spAutoFit/>
          </a:bodyPr>
          <a:lstStyle/>
          <a:p>
            <a:r>
              <a:rPr lang="en-GB" sz="5400" b="1" u="sng" dirty="0" smtClean="0">
                <a:solidFill>
                  <a:schemeClr val="accent2"/>
                </a:solidFill>
                <a:latin typeface="Times New Roman" panose="02020603050405020304" pitchFamily="18" charset="0"/>
                <a:cs typeface="Times New Roman" panose="02020603050405020304" pitchFamily="18" charset="0"/>
              </a:rPr>
              <a:t>______________</a:t>
            </a:r>
            <a:endParaRPr lang="en-IN" sz="5400" b="1" u="sng" dirty="0">
              <a:solidFill>
                <a:schemeClr val="accent2"/>
              </a:solidFill>
              <a:latin typeface="Times New Roman" panose="02020603050405020304" pitchFamily="18" charset="0"/>
              <a:cs typeface="Times New Roman" panose="02020603050405020304" pitchFamily="18" charset="0"/>
            </a:endParaRPr>
          </a:p>
        </p:txBody>
      </p:sp>
      <p:sp>
        <p:nvSpPr>
          <p:cNvPr id="7" name="Rectangle 2"/>
          <p:cNvSpPr>
            <a:spLocks noGrp="1" noChangeArrowheads="1"/>
          </p:cNvSpPr>
          <p:nvPr>
            <p:ph idx="1"/>
          </p:nvPr>
        </p:nvSpPr>
        <p:spPr bwMode="auto">
          <a:xfrm>
            <a:off x="664143" y="1889622"/>
            <a:ext cx="11117549"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Fire detection is faster and more reliable when </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sensor data and vision (YOLO) are combined</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rather than used individually </a:t>
            </a:r>
          </a:p>
          <a:p>
            <a:pPr eaLnBrk="0" fontAlgn="base" hangingPunct="0">
              <a:lnSpc>
                <a:spcPct val="150000"/>
              </a:lnSpc>
              <a:spcBef>
                <a:spcPct val="0"/>
              </a:spcBef>
              <a:spcAft>
                <a:spcPct val="0"/>
              </a:spcAf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Detection performance is highest within </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short to medium range (up to ~2 meters)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decreases with distance </a:t>
            </a:r>
          </a:p>
          <a:p>
            <a:pPr eaLnBrk="0" fontAlgn="base" hangingPunct="0">
              <a:lnSpc>
                <a:spcPct val="150000"/>
              </a:lnSpc>
              <a:spcBef>
                <a:spcPct val="0"/>
              </a:spcBef>
              <a:spcAft>
                <a:spcPct val="0"/>
              </a:spcAf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Temperature rise and humidity drop</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act as early indicators before visible fire is detected </a:t>
            </a:r>
          </a:p>
          <a:p>
            <a:pPr eaLnBrk="0" fontAlgn="base" hangingPunct="0">
              <a:lnSpc>
                <a:spcPct val="150000"/>
              </a:lnSpc>
              <a:spcBef>
                <a:spcPct val="0"/>
              </a:spcBef>
              <a:spcAft>
                <a:spcPct val="0"/>
              </a:spcAf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Edge processing on Raspberry Pi ensures </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low latency and continuous operation without internet dependency.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983231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474" y="736588"/>
            <a:ext cx="9867899" cy="1153035"/>
          </a:xfrm>
        </p:spPr>
        <p:txBody>
          <a:bodyPr>
            <a:noAutofit/>
          </a:bodyPr>
          <a:lstStyle/>
          <a:p>
            <a:pPr algn="ctr"/>
            <a:r>
              <a:rPr lang="en-IN" sz="3200" b="1" spc="300" dirty="0" smtClean="0">
                <a:latin typeface="Times New Roman"/>
                <a:ea typeface="Calibri Light"/>
                <a:cs typeface="Calibri Light"/>
              </a:rPr>
              <a:t>13</a:t>
            </a:r>
            <a:r>
              <a:rPr lang="en-IN" sz="3200" b="1" spc="300" dirty="0" smtClean="0">
                <a:latin typeface="Times New Roman"/>
                <a:ea typeface="Calibri Light"/>
                <a:cs typeface="Calibri Light"/>
              </a:rPr>
              <a:t>.Key Differences</a:t>
            </a:r>
            <a:endParaRPr lang="en-IN" sz="3200" b="1" spc="300" dirty="0">
              <a:latin typeface="Times New Roman"/>
              <a:ea typeface="Calibri Light"/>
              <a:cs typeface="Calibri Light"/>
            </a:endParaRPr>
          </a:p>
        </p:txBody>
      </p:sp>
      <p:sp>
        <p:nvSpPr>
          <p:cNvPr id="5" name="Rectangle 4">
            <a:extLst>
              <a:ext uri="{FF2B5EF4-FFF2-40B4-BE49-F238E27FC236}">
                <a16:creationId xmlns:a16="http://schemas.microsoft.com/office/drawing/2014/main" id="{FD56104F-3188-9EB5-D359-D5F22C5297E8}"/>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4426606" y="795835"/>
            <a:ext cx="5274645" cy="923330"/>
          </a:xfrm>
          <a:prstGeom prst="rect">
            <a:avLst/>
          </a:prstGeom>
        </p:spPr>
        <p:txBody>
          <a:bodyPr wrap="square">
            <a:spAutoFit/>
          </a:bodyPr>
          <a:lstStyle/>
          <a:p>
            <a:r>
              <a:rPr lang="en-GB" sz="5400" b="1" u="sng" dirty="0" smtClean="0">
                <a:solidFill>
                  <a:schemeClr val="accent2"/>
                </a:solidFill>
                <a:latin typeface="Times New Roman" panose="02020603050405020304" pitchFamily="18" charset="0"/>
                <a:cs typeface="Times New Roman" panose="02020603050405020304" pitchFamily="18" charset="0"/>
              </a:rPr>
              <a:t>__________</a:t>
            </a:r>
            <a:endParaRPr lang="en-IN" sz="5400" b="1" u="sng" dirty="0">
              <a:solidFill>
                <a:schemeClr val="accent2"/>
              </a:solidFill>
              <a:latin typeface="Times New Roman" panose="02020603050405020304" pitchFamily="18" charset="0"/>
              <a:cs typeface="Times New Roman" panose="02020603050405020304" pitchFamily="18" charset="0"/>
            </a:endParaRPr>
          </a:p>
        </p:txBody>
      </p:sp>
      <p:sp>
        <p:nvSpPr>
          <p:cNvPr id="7" name="Rectangle 2"/>
          <p:cNvSpPr>
            <a:spLocks noGrp="1" noChangeArrowheads="1"/>
          </p:cNvSpPr>
          <p:nvPr>
            <p:ph idx="1"/>
          </p:nvPr>
        </p:nvSpPr>
        <p:spPr bwMode="auto">
          <a:xfrm>
            <a:off x="664143" y="1910140"/>
            <a:ext cx="11117549" cy="4416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400" dirty="0" smtClean="0">
                <a:latin typeface="Times New Roman" panose="02020603050405020304" pitchFamily="18" charset="0"/>
                <a:cs typeface="Times New Roman" panose="02020603050405020304" pitchFamily="18" charset="0"/>
              </a:rPr>
              <a:t>Edge-based </a:t>
            </a:r>
            <a:r>
              <a:rPr lang="en-US" sz="2400" dirty="0">
                <a:latin typeface="Times New Roman" panose="02020603050405020304" pitchFamily="18" charset="0"/>
                <a:cs typeface="Times New Roman" panose="02020603050405020304" pitchFamily="18" charset="0"/>
              </a:rPr>
              <a:t>local processing vs cloud-based processing (lower latency, no internet dependency) </a:t>
            </a:r>
          </a:p>
          <a:p>
            <a:pPr>
              <a:lnSpc>
                <a:spcPct val="150000"/>
              </a:lnSpc>
            </a:pPr>
            <a:r>
              <a:rPr lang="en-US" sz="2400" dirty="0">
                <a:latin typeface="Times New Roman" panose="02020603050405020304" pitchFamily="18" charset="0"/>
                <a:cs typeface="Times New Roman" panose="02020603050405020304" pitchFamily="18" charset="0"/>
              </a:rPr>
              <a:t>Multi-modal detection (YOLO + sensors) vs sensor-only detection </a:t>
            </a:r>
          </a:p>
          <a:p>
            <a:pPr>
              <a:lnSpc>
                <a:spcPct val="150000"/>
              </a:lnSpc>
            </a:pPr>
            <a:r>
              <a:rPr lang="en-US" sz="2400" dirty="0">
                <a:latin typeface="Times New Roman" panose="02020603050405020304" pitchFamily="18" charset="0"/>
                <a:cs typeface="Times New Roman" panose="02020603050405020304" pitchFamily="18" charset="0"/>
              </a:rPr>
              <a:t>Real-time alerts vs delayed cloud-based response </a:t>
            </a:r>
          </a:p>
          <a:p>
            <a:pPr>
              <a:lnSpc>
                <a:spcPct val="150000"/>
              </a:lnSpc>
            </a:pPr>
            <a:r>
              <a:rPr lang="en-US" sz="2400" dirty="0">
                <a:latin typeface="Times New Roman" panose="02020603050405020304" pitchFamily="18" charset="0"/>
                <a:cs typeface="Times New Roman" panose="02020603050405020304" pitchFamily="18" charset="0"/>
              </a:rPr>
              <a:t>Intelligent AI-based analysis vs threshold-based detection </a:t>
            </a:r>
          </a:p>
          <a:p>
            <a:pPr>
              <a:lnSpc>
                <a:spcPct val="150000"/>
              </a:lnSpc>
            </a:pPr>
            <a:r>
              <a:rPr lang="en-US" sz="2400" dirty="0">
                <a:latin typeface="Times New Roman" panose="02020603050405020304" pitchFamily="18" charset="0"/>
                <a:cs typeface="Times New Roman" panose="02020603050405020304" pitchFamily="18" charset="0"/>
              </a:rPr>
              <a:t>Faster response and higher accuracy vs limited responsiveness and reliability</a:t>
            </a:r>
          </a:p>
          <a:p>
            <a:pPr eaLnBrk="0" fontAlgn="base" hangingPunct="0">
              <a:lnSpc>
                <a:spcPct val="150000"/>
              </a:lnSpc>
              <a:spcBef>
                <a:spcPct val="0"/>
              </a:spcBef>
              <a:spcAft>
                <a:spcPct val="0"/>
              </a:spcAf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4457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0492" y="389775"/>
            <a:ext cx="9867899" cy="1153035"/>
          </a:xfrm>
        </p:spPr>
        <p:txBody>
          <a:bodyPr>
            <a:noAutofit/>
          </a:bodyPr>
          <a:lstStyle/>
          <a:p>
            <a:pPr algn="ctr"/>
            <a:r>
              <a:rPr lang="en-IN" sz="3600" b="1" spc="300" dirty="0" smtClean="0">
                <a:latin typeface="Times New Roman"/>
                <a:ea typeface="Calibri Light"/>
                <a:cs typeface="Calibri Light"/>
              </a:rPr>
              <a:t>14</a:t>
            </a:r>
            <a:r>
              <a:rPr lang="en-IN" sz="3600" b="1" spc="300" dirty="0" smtClean="0">
                <a:latin typeface="Times New Roman"/>
                <a:ea typeface="Calibri Light"/>
                <a:cs typeface="Calibri Light"/>
              </a:rPr>
              <a:t>. Results </a:t>
            </a:r>
            <a:r>
              <a:rPr lang="en-IN" sz="3600" b="1" spc="300" dirty="0">
                <a:latin typeface="Times New Roman"/>
                <a:ea typeface="Calibri Light"/>
                <a:cs typeface="Calibri Light"/>
              </a:rPr>
              <a:t>and Discussion</a:t>
            </a:r>
          </a:p>
        </p:txBody>
      </p:sp>
      <p:sp>
        <p:nvSpPr>
          <p:cNvPr id="3" name="Content Placeholder 2"/>
          <p:cNvSpPr>
            <a:spLocks noGrp="1"/>
          </p:cNvSpPr>
          <p:nvPr>
            <p:ph idx="1"/>
          </p:nvPr>
        </p:nvSpPr>
        <p:spPr>
          <a:xfrm>
            <a:off x="722695" y="1650365"/>
            <a:ext cx="10943492" cy="4584629"/>
          </a:xfrm>
        </p:spPr>
        <p:txBody>
          <a:bodyPr vert="horz" lIns="91440" tIns="45720" rIns="91440" bIns="45720" rtlCol="0" anchor="t">
            <a:noAutofit/>
          </a:bodyPr>
          <a:lstStyle/>
          <a:p>
            <a:pPr marL="0" indent="0" algn="just">
              <a:lnSpc>
                <a:spcPct val="150000"/>
              </a:lnSpc>
              <a:buNone/>
            </a:pPr>
            <a:r>
              <a:rPr lang="en-IN" b="1" u="sng" dirty="0">
                <a:latin typeface="Times New Roman" panose="02020603050405020304" pitchFamily="18" charset="0"/>
                <a:cs typeface="Times New Roman" panose="02020603050405020304" pitchFamily="18" charset="0"/>
              </a:rPr>
              <a:t>Results</a:t>
            </a:r>
            <a:endParaRPr lang="en-US" sz="2400" u="sng" dirty="0">
              <a:latin typeface="Times New Roman" panose="02020603050405020304" pitchFamily="18" charset="0"/>
              <a:cs typeface="Times New Roman" panose="02020603050405020304" pitchFamily="18" charset="0"/>
            </a:endParaRPr>
          </a:p>
          <a:p>
            <a:pPr algn="just">
              <a:lnSpc>
                <a:spcPct val="150000"/>
              </a:lnSpc>
              <a:buFont typeface="Wingdings"/>
              <a:buChar char="Ø"/>
            </a:pPr>
            <a:r>
              <a:rPr lang="en-IN" sz="2400" dirty="0">
                <a:latin typeface="Times New Roman" panose="02020603050405020304" pitchFamily="18" charset="0"/>
                <a:ea typeface="+mn-lt"/>
                <a:cs typeface="Times New Roman" panose="02020603050405020304" pitchFamily="18" charset="0"/>
              </a:rPr>
              <a:t>Detected flame </a:t>
            </a:r>
            <a:r>
              <a:rPr lang="en-IN" sz="2400" b="1" dirty="0">
                <a:latin typeface="Times New Roman" panose="02020603050405020304" pitchFamily="18" charset="0"/>
                <a:ea typeface="+mn-lt"/>
                <a:cs typeface="Times New Roman" panose="02020603050405020304" pitchFamily="18" charset="0"/>
              </a:rPr>
              <a:t>quickly and accurately</a:t>
            </a:r>
            <a:r>
              <a:rPr lang="en-IN" sz="2400" dirty="0">
                <a:latin typeface="Times New Roman" panose="02020603050405020304" pitchFamily="18" charset="0"/>
                <a:ea typeface="+mn-lt"/>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Wingdings"/>
              <a:buChar char="Ø"/>
            </a:pPr>
            <a:r>
              <a:rPr lang="en-IN" sz="2400" dirty="0">
                <a:latin typeface="Times New Roman" panose="02020603050405020304" pitchFamily="18" charset="0"/>
                <a:ea typeface="+mn-lt"/>
                <a:cs typeface="Times New Roman" panose="02020603050405020304" pitchFamily="18" charset="0"/>
              </a:rPr>
              <a:t>Edge AI (Raspberry Pi) gave </a:t>
            </a:r>
            <a:r>
              <a:rPr lang="en-IN" sz="2400" b="1" dirty="0">
                <a:latin typeface="Times New Roman" panose="02020603050405020304" pitchFamily="18" charset="0"/>
                <a:ea typeface="+mn-lt"/>
                <a:cs typeface="Times New Roman" panose="02020603050405020304" pitchFamily="18" charset="0"/>
              </a:rPr>
              <a:t>faster response</a:t>
            </a:r>
            <a:r>
              <a:rPr lang="en-IN" sz="2400" dirty="0">
                <a:latin typeface="Times New Roman" panose="02020603050405020304" pitchFamily="18" charset="0"/>
                <a:ea typeface="+mn-lt"/>
                <a:cs typeface="Times New Roman" panose="02020603050405020304" pitchFamily="18" charset="0"/>
              </a:rPr>
              <a:t> than cloud-only.</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Wingdings"/>
              <a:buChar char="Ø"/>
            </a:pPr>
            <a:r>
              <a:rPr lang="en-IN" sz="2400" dirty="0">
                <a:latin typeface="Times New Roman" panose="02020603050405020304" pitchFamily="18" charset="0"/>
                <a:ea typeface="+mn-lt"/>
                <a:cs typeface="Times New Roman" panose="02020603050405020304" pitchFamily="18" charset="0"/>
              </a:rPr>
              <a:t>Sensors setup reduced </a:t>
            </a:r>
            <a:r>
              <a:rPr lang="en-IN" sz="2400" b="1" dirty="0">
                <a:latin typeface="Times New Roman" panose="02020603050405020304" pitchFamily="18" charset="0"/>
                <a:ea typeface="+mn-lt"/>
                <a:cs typeface="Times New Roman" panose="02020603050405020304" pitchFamily="18" charset="0"/>
              </a:rPr>
              <a:t>false alarms</a:t>
            </a:r>
            <a:r>
              <a:rPr lang="en-IN" sz="2400" dirty="0">
                <a:latin typeface="Times New Roman" panose="02020603050405020304" pitchFamily="18" charset="0"/>
                <a:ea typeface="+mn-lt"/>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Wingdings"/>
              <a:buChar char="Ø"/>
            </a:pPr>
            <a:r>
              <a:rPr lang="en-IN" sz="2400" dirty="0">
                <a:latin typeface="Times New Roman" panose="02020603050405020304" pitchFamily="18" charset="0"/>
                <a:ea typeface="+mn-lt"/>
                <a:cs typeface="Times New Roman" panose="02020603050405020304" pitchFamily="18" charset="0"/>
              </a:rPr>
              <a:t>Data and alerts shown on </a:t>
            </a:r>
            <a:r>
              <a:rPr lang="en-IN" sz="2400" b="1" dirty="0">
                <a:latin typeface="Times New Roman" panose="02020603050405020304" pitchFamily="18" charset="0"/>
                <a:ea typeface="+mn-lt"/>
                <a:cs typeface="Times New Roman" panose="02020603050405020304" pitchFamily="18" charset="0"/>
              </a:rPr>
              <a:t>mobile</a:t>
            </a:r>
            <a:r>
              <a:rPr lang="en-IN" sz="2400" dirty="0">
                <a:latin typeface="Times New Roman" panose="02020603050405020304" pitchFamily="18" charset="0"/>
                <a:ea typeface="+mn-lt"/>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Wingdings"/>
              <a:buChar char="Ø"/>
            </a:pPr>
            <a:r>
              <a:rPr lang="en-IN" sz="2400" dirty="0">
                <a:latin typeface="Times New Roman" panose="02020603050405020304" pitchFamily="18" charset="0"/>
                <a:ea typeface="+mn-lt"/>
                <a:cs typeface="Times New Roman" panose="02020603050405020304" pitchFamily="18" charset="0"/>
              </a:rPr>
              <a:t>Sensors fusion made the system </a:t>
            </a:r>
            <a:r>
              <a:rPr lang="en-IN" sz="2400" b="1" dirty="0">
                <a:latin typeface="Times New Roman" panose="02020603050405020304" pitchFamily="18" charset="0"/>
                <a:ea typeface="+mn-lt"/>
                <a:cs typeface="Times New Roman" panose="02020603050405020304" pitchFamily="18" charset="0"/>
              </a:rPr>
              <a:t>robust</a:t>
            </a:r>
            <a:r>
              <a:rPr lang="en-IN" sz="2400" dirty="0">
                <a:latin typeface="Times New Roman" panose="02020603050405020304" pitchFamily="18" charset="0"/>
                <a:ea typeface="+mn-lt"/>
                <a:cs typeface="Times New Roman" panose="02020603050405020304" pitchFamily="18" charset="0"/>
              </a:rPr>
              <a:t> against false triggers like dust or temporary smoke</a:t>
            </a:r>
            <a:r>
              <a:rPr lang="en-IN" sz="2400" dirty="0" smtClean="0">
                <a:latin typeface="Times New Roman" panose="02020603050405020304" pitchFamily="18" charset="0"/>
                <a:ea typeface="+mn-lt"/>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D56104F-3188-9EB5-D359-D5F22C5297E8}"/>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3807647" y="504627"/>
            <a:ext cx="5875367" cy="923330"/>
          </a:xfrm>
          <a:prstGeom prst="rect">
            <a:avLst/>
          </a:prstGeom>
        </p:spPr>
        <p:txBody>
          <a:bodyPr wrap="square">
            <a:spAutoFit/>
          </a:bodyPr>
          <a:lstStyle/>
          <a:p>
            <a:r>
              <a:rPr lang="en-GB" sz="5400" u="sng" dirty="0" smtClean="0">
                <a:solidFill>
                  <a:schemeClr val="accent2"/>
                </a:solidFill>
                <a:latin typeface="Times New Roman" panose="02020603050405020304" pitchFamily="18" charset="0"/>
                <a:cs typeface="Times New Roman" panose="02020603050405020304" pitchFamily="18" charset="0"/>
              </a:rPr>
              <a:t>________________</a:t>
            </a:r>
            <a:endParaRPr lang="en-IN" sz="5400" u="sng"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98643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FE931-535B-E773-E7E9-0B83DE4D4D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8F196-E815-DDA9-23FD-ED62861DF7F3}"/>
              </a:ext>
            </a:extLst>
          </p:cNvPr>
          <p:cNvSpPr>
            <a:spLocks noGrp="1"/>
          </p:cNvSpPr>
          <p:nvPr>
            <p:ph idx="1"/>
          </p:nvPr>
        </p:nvSpPr>
        <p:spPr>
          <a:xfrm>
            <a:off x="951566" y="628780"/>
            <a:ext cx="10241974" cy="3828525"/>
          </a:xfrm>
        </p:spPr>
        <p:txBody>
          <a:bodyPr vert="horz" lIns="91440" tIns="45720" rIns="91440" bIns="45720" rtlCol="0" anchor="t">
            <a:noAutofit/>
          </a:bodyPr>
          <a:lstStyle/>
          <a:p>
            <a:pPr marL="0" indent="0" algn="just">
              <a:lnSpc>
                <a:spcPct val="150000"/>
              </a:lnSpc>
              <a:buNone/>
            </a:pPr>
            <a:r>
              <a:rPr lang="en-IN" sz="3200" b="1" u="sng" dirty="0">
                <a:latin typeface="Times New Roman"/>
                <a:cs typeface="Times New Roman"/>
              </a:rPr>
              <a:t>Discussion</a:t>
            </a:r>
            <a:endParaRPr lang="en-IN" sz="3200" u="sng" dirty="0">
              <a:latin typeface="Times New Roman"/>
              <a:ea typeface="Calibri" panose="020F0502020204030204"/>
              <a:cs typeface="Times New Roman"/>
            </a:endParaRPr>
          </a:p>
          <a:p>
            <a:pPr algn="just">
              <a:lnSpc>
                <a:spcPct val="150000"/>
              </a:lnSpc>
              <a:buFont typeface="Wingdings"/>
              <a:buChar char="Ø"/>
            </a:pPr>
            <a:r>
              <a:rPr lang="en-IN" dirty="0">
                <a:latin typeface="Times New Roman"/>
                <a:ea typeface="+mn-lt"/>
                <a:cs typeface="+mn-lt"/>
              </a:rPr>
              <a:t>System is </a:t>
            </a:r>
            <a:r>
              <a:rPr lang="en-IN" b="1" dirty="0">
                <a:latin typeface="Times New Roman"/>
                <a:ea typeface="+mn-lt"/>
                <a:cs typeface="+mn-lt"/>
              </a:rPr>
              <a:t>accurate, fast, and reliable</a:t>
            </a:r>
            <a:r>
              <a:rPr lang="en-IN" dirty="0">
                <a:latin typeface="Times New Roman"/>
                <a:ea typeface="+mn-lt"/>
                <a:cs typeface="+mn-lt"/>
              </a:rPr>
              <a:t>.</a:t>
            </a:r>
            <a:endParaRPr lang="en-IN" dirty="0">
              <a:latin typeface="Times New Roman"/>
              <a:cs typeface="Times New Roman"/>
            </a:endParaRPr>
          </a:p>
          <a:p>
            <a:pPr algn="just">
              <a:lnSpc>
                <a:spcPct val="150000"/>
              </a:lnSpc>
              <a:buFont typeface="Wingdings"/>
              <a:buChar char="Ø"/>
            </a:pPr>
            <a:r>
              <a:rPr lang="en-IN" dirty="0">
                <a:latin typeface="Times New Roman"/>
                <a:ea typeface="+mn-lt"/>
                <a:cs typeface="+mn-lt"/>
              </a:rPr>
              <a:t>Works in </a:t>
            </a:r>
            <a:r>
              <a:rPr lang="en-IN" b="1" dirty="0">
                <a:latin typeface="Times New Roman"/>
                <a:ea typeface="+mn-lt"/>
                <a:cs typeface="+mn-lt"/>
              </a:rPr>
              <a:t>remote farms</a:t>
            </a:r>
            <a:r>
              <a:rPr lang="en-IN" dirty="0">
                <a:latin typeface="Times New Roman"/>
                <a:ea typeface="+mn-lt"/>
                <a:cs typeface="+mn-lt"/>
              </a:rPr>
              <a:t> with solar power.</a:t>
            </a:r>
            <a:endParaRPr lang="en-IN" dirty="0">
              <a:latin typeface="Times New Roman"/>
              <a:cs typeface="Times New Roman"/>
            </a:endParaRPr>
          </a:p>
          <a:p>
            <a:pPr algn="just">
              <a:lnSpc>
                <a:spcPct val="150000"/>
              </a:lnSpc>
              <a:buFont typeface="Wingdings"/>
              <a:buChar char="Ø"/>
            </a:pPr>
            <a:r>
              <a:rPr lang="en-IN" dirty="0" smtClean="0">
                <a:latin typeface="Times New Roman"/>
                <a:ea typeface="+mn-lt"/>
                <a:cs typeface="+mn-lt"/>
              </a:rPr>
              <a:t>System is cost effective and suitable for small to medium-scale deployment</a:t>
            </a:r>
            <a:endParaRPr lang="en-IN" dirty="0">
              <a:latin typeface="Times New Roman"/>
              <a:cs typeface="Times New Roman"/>
            </a:endParaRPr>
          </a:p>
          <a:p>
            <a:pPr algn="just">
              <a:lnSpc>
                <a:spcPct val="150000"/>
              </a:lnSpc>
              <a:buFont typeface="Wingdings"/>
              <a:buChar char="Ø"/>
            </a:pPr>
            <a:r>
              <a:rPr lang="en-IN" dirty="0">
                <a:latin typeface="Times New Roman"/>
                <a:ea typeface="+mn-lt"/>
                <a:cs typeface="+mn-lt"/>
              </a:rPr>
              <a:t>Supports </a:t>
            </a:r>
            <a:r>
              <a:rPr lang="en-IN" b="1" dirty="0">
                <a:latin typeface="Times New Roman"/>
                <a:ea typeface="+mn-lt"/>
                <a:cs typeface="+mn-lt"/>
              </a:rPr>
              <a:t>safe and sustainable smart agriculture</a:t>
            </a:r>
          </a:p>
          <a:p>
            <a:pPr algn="just">
              <a:lnSpc>
                <a:spcPct val="150000"/>
              </a:lnSpc>
              <a:buFont typeface="Wingdings"/>
              <a:buChar char="Ø"/>
            </a:pPr>
            <a:r>
              <a:rPr lang="en-GB" dirty="0">
                <a:latin typeface="Times New Roman"/>
                <a:ea typeface="+mn-lt"/>
                <a:cs typeface="+mn-lt"/>
              </a:rPr>
              <a:t>Uses the sensors and device’s quantity based on Land scalability and space. </a:t>
            </a:r>
            <a:endParaRPr lang="en-GB" dirty="0" smtClean="0">
              <a:latin typeface="Times New Roman"/>
              <a:ea typeface="+mn-lt"/>
              <a:cs typeface="+mn-lt"/>
            </a:endParaRPr>
          </a:p>
          <a:p>
            <a:pPr algn="just">
              <a:buFont typeface="Wingdings"/>
              <a:buChar char="Ø"/>
            </a:pPr>
            <a:endParaRPr lang="en-IN" dirty="0">
              <a:latin typeface="Times New Roman"/>
              <a:cs typeface="Times New Roman"/>
            </a:endParaRPr>
          </a:p>
          <a:p>
            <a:pPr>
              <a:buFont typeface="Wingdings" panose="020B0604020202020204" pitchFamily="34" charset="0"/>
              <a:buChar char="Ø"/>
            </a:pPr>
            <a:endParaRPr lang="en-IN" dirty="0">
              <a:latin typeface="Times New Roman"/>
              <a:ea typeface="Calibri"/>
              <a:cs typeface="Calibri"/>
            </a:endParaRPr>
          </a:p>
        </p:txBody>
      </p:sp>
      <p:sp>
        <p:nvSpPr>
          <p:cNvPr id="5" name="Rectangle 4">
            <a:extLst>
              <a:ext uri="{FF2B5EF4-FFF2-40B4-BE49-F238E27FC236}">
                <a16:creationId xmlns:a16="http://schemas.microsoft.com/office/drawing/2014/main" id="{EBF0BAB3-4F25-ABDA-E459-24031E3EAE92}"/>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4750348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6E4E5-9B4B-A816-D8C8-2AEF9A417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4B017-6FD7-D3E7-FA03-4C0C3AAB24CF}"/>
              </a:ext>
            </a:extLst>
          </p:cNvPr>
          <p:cNvSpPr>
            <a:spLocks noGrp="1"/>
          </p:cNvSpPr>
          <p:nvPr>
            <p:ph type="title"/>
          </p:nvPr>
        </p:nvSpPr>
        <p:spPr>
          <a:xfrm>
            <a:off x="1790701" y="488485"/>
            <a:ext cx="8915400" cy="1138657"/>
          </a:xfrm>
        </p:spPr>
        <p:txBody>
          <a:bodyPr>
            <a:noAutofit/>
          </a:bodyPr>
          <a:lstStyle/>
          <a:p>
            <a:r>
              <a:rPr lang="en-IN" sz="4000" b="1" spc="300" dirty="0" smtClean="0">
                <a:latin typeface="Times New Roman"/>
                <a:ea typeface="Calibri Light"/>
                <a:cs typeface="Calibri Light"/>
              </a:rPr>
              <a:t>15</a:t>
            </a:r>
            <a:r>
              <a:rPr lang="en-IN" sz="4000" b="1" spc="300" dirty="0" smtClean="0">
                <a:latin typeface="Times New Roman"/>
                <a:ea typeface="Calibri Light"/>
                <a:cs typeface="Calibri Light"/>
              </a:rPr>
              <a:t>.Limitations </a:t>
            </a:r>
            <a:r>
              <a:rPr lang="en-IN" sz="4000" b="1" spc="300" dirty="0" smtClean="0">
                <a:latin typeface="Times New Roman"/>
                <a:ea typeface="Calibri Light"/>
                <a:cs typeface="Calibri Light"/>
              </a:rPr>
              <a:t>of </a:t>
            </a:r>
            <a:r>
              <a:rPr lang="en-IN" sz="4000" b="1" spc="300" dirty="0" smtClean="0">
                <a:latin typeface="Times New Roman"/>
                <a:ea typeface="Calibri Light"/>
                <a:cs typeface="Calibri Light"/>
              </a:rPr>
              <a:t>Existing </a:t>
            </a:r>
            <a:r>
              <a:rPr lang="en-IN" sz="4000" b="1" spc="300" dirty="0">
                <a:latin typeface="Times New Roman"/>
                <a:ea typeface="Calibri Light"/>
                <a:cs typeface="Calibri Light"/>
              </a:rPr>
              <a:t>Layer</a:t>
            </a:r>
          </a:p>
        </p:txBody>
      </p:sp>
      <p:sp>
        <p:nvSpPr>
          <p:cNvPr id="3" name="Content Placeholder 2">
            <a:extLst>
              <a:ext uri="{FF2B5EF4-FFF2-40B4-BE49-F238E27FC236}">
                <a16:creationId xmlns:a16="http://schemas.microsoft.com/office/drawing/2014/main" id="{D09F8CE1-B44B-2C2D-07BF-2BE9F9AFF09B}"/>
              </a:ext>
            </a:extLst>
          </p:cNvPr>
          <p:cNvSpPr>
            <a:spLocks noGrp="1"/>
          </p:cNvSpPr>
          <p:nvPr>
            <p:ph idx="1"/>
          </p:nvPr>
        </p:nvSpPr>
        <p:spPr>
          <a:xfrm>
            <a:off x="838200" y="1627142"/>
            <a:ext cx="10591800" cy="3833858"/>
          </a:xfrm>
        </p:spPr>
        <p:txBody>
          <a:bodyPr vert="horz" lIns="91440" tIns="45720" rIns="91440" bIns="45720" rtlCol="0" anchor="t">
            <a:noAutofit/>
          </a:bodyPr>
          <a:lstStyle/>
          <a:p>
            <a:pPr algn="just">
              <a:lnSpc>
                <a:spcPct val="150000"/>
              </a:lnSpc>
              <a:buFont typeface="Wingdings" panose="020B0604020202020204" pitchFamily="34" charset="0"/>
              <a:buChar char="Ø"/>
            </a:pPr>
            <a:r>
              <a:rPr lang="en-IN" dirty="0" smtClean="0">
                <a:latin typeface="Times New Roman"/>
                <a:ea typeface="+mn-lt"/>
                <a:cs typeface="+mn-lt"/>
              </a:rPr>
              <a:t> </a:t>
            </a:r>
            <a:r>
              <a:rPr lang="en-IN" dirty="0">
                <a:latin typeface="Times New Roman"/>
                <a:ea typeface="+mn-lt"/>
                <a:cs typeface="+mn-lt"/>
              </a:rPr>
              <a:t>Rely on </a:t>
            </a:r>
            <a:r>
              <a:rPr lang="en-IN" b="1" dirty="0">
                <a:latin typeface="Times New Roman"/>
                <a:ea typeface="+mn-lt"/>
                <a:cs typeface="+mn-lt"/>
              </a:rPr>
              <a:t>single sensors</a:t>
            </a:r>
            <a:r>
              <a:rPr lang="en-IN" dirty="0">
                <a:latin typeface="Times New Roman"/>
                <a:ea typeface="+mn-lt"/>
                <a:cs typeface="+mn-lt"/>
              </a:rPr>
              <a:t> (only smoke or flame) → more false alarms.</a:t>
            </a:r>
            <a:endParaRPr lang="en-IN" dirty="0">
              <a:latin typeface="Times New Roman"/>
              <a:cs typeface="Times New Roman"/>
            </a:endParaRPr>
          </a:p>
          <a:p>
            <a:pPr algn="just">
              <a:lnSpc>
                <a:spcPct val="150000"/>
              </a:lnSpc>
              <a:buFont typeface="Wingdings" panose="020B0604020202020204" pitchFamily="34" charset="0"/>
              <a:buChar char="Ø"/>
            </a:pPr>
            <a:r>
              <a:rPr lang="en-IN" dirty="0">
                <a:latin typeface="Times New Roman"/>
                <a:ea typeface="+mn-lt"/>
                <a:cs typeface="+mn-lt"/>
              </a:rPr>
              <a:t> Work on </a:t>
            </a:r>
            <a:r>
              <a:rPr lang="en-IN" b="1" dirty="0">
                <a:latin typeface="Times New Roman"/>
                <a:ea typeface="+mn-lt"/>
                <a:cs typeface="+mn-lt"/>
              </a:rPr>
              <a:t>simple thresholds</a:t>
            </a:r>
            <a:r>
              <a:rPr lang="en-IN" dirty="0">
                <a:latin typeface="Times New Roman"/>
                <a:ea typeface="+mn-lt"/>
                <a:cs typeface="+mn-lt"/>
              </a:rPr>
              <a:t> → cannot adapt to complex conditions.</a:t>
            </a:r>
            <a:endParaRPr lang="en-IN" dirty="0">
              <a:latin typeface="Times New Roman"/>
              <a:cs typeface="Times New Roman"/>
            </a:endParaRPr>
          </a:p>
          <a:p>
            <a:pPr algn="just">
              <a:lnSpc>
                <a:spcPct val="150000"/>
              </a:lnSpc>
              <a:buFont typeface="Wingdings" panose="020B0604020202020204" pitchFamily="34" charset="0"/>
              <a:buChar char="Ø"/>
            </a:pPr>
            <a:r>
              <a:rPr lang="en-IN" dirty="0">
                <a:latin typeface="Times New Roman"/>
                <a:ea typeface="+mn-lt"/>
                <a:cs typeface="+mn-lt"/>
              </a:rPr>
              <a:t> </a:t>
            </a:r>
            <a:r>
              <a:rPr lang="en-IN" b="1" dirty="0">
                <a:latin typeface="Times New Roman"/>
                <a:ea typeface="+mn-lt"/>
                <a:cs typeface="+mn-lt"/>
              </a:rPr>
              <a:t>No Edge AI</a:t>
            </a:r>
            <a:r>
              <a:rPr lang="en-IN" dirty="0">
                <a:latin typeface="Times New Roman"/>
                <a:ea typeface="+mn-lt"/>
                <a:cs typeface="+mn-lt"/>
              </a:rPr>
              <a:t> → all processing is cloud-based, causing delays.</a:t>
            </a:r>
            <a:endParaRPr lang="en-IN" dirty="0">
              <a:latin typeface="Times New Roman"/>
              <a:cs typeface="Times New Roman"/>
            </a:endParaRPr>
          </a:p>
          <a:p>
            <a:pPr algn="just">
              <a:lnSpc>
                <a:spcPct val="150000"/>
              </a:lnSpc>
              <a:buFont typeface="Wingdings" panose="020B0604020202020204" pitchFamily="34" charset="0"/>
              <a:buChar char="Ø"/>
            </a:pPr>
            <a:r>
              <a:rPr lang="en-IN" b="1" dirty="0" smtClean="0">
                <a:latin typeface="Times New Roman"/>
                <a:cs typeface="Times New Roman"/>
              </a:rPr>
              <a:t>Limitations of Existing Methods  </a:t>
            </a:r>
            <a:r>
              <a:rPr lang="en-IN" dirty="0" smtClean="0">
                <a:latin typeface="Times New Roman"/>
                <a:ea typeface="Calibri"/>
                <a:cs typeface="Times New Roman"/>
              </a:rPr>
              <a:t>b</a:t>
            </a:r>
            <a:r>
              <a:rPr lang="en-IN" dirty="0" smtClean="0">
                <a:latin typeface="Times New Roman"/>
                <a:ea typeface="Calibri"/>
                <a:cs typeface="Calibri"/>
              </a:rPr>
              <a:t>efore</a:t>
            </a:r>
            <a:r>
              <a:rPr lang="en-IN" dirty="0" smtClean="0">
                <a:latin typeface="Times New Roman"/>
                <a:ea typeface="+mn-lt"/>
                <a:cs typeface="+mn-lt"/>
              </a:rPr>
              <a:t> using Raspberry Pi with Edge AI + Cloud)</a:t>
            </a:r>
            <a:endParaRPr lang="en-IN" dirty="0" smtClean="0">
              <a:latin typeface="Times New Roman"/>
              <a:ea typeface="Calibri"/>
              <a:cs typeface="Times New Roman"/>
            </a:endParaRPr>
          </a:p>
        </p:txBody>
      </p:sp>
      <p:sp>
        <p:nvSpPr>
          <p:cNvPr id="5" name="Rectangle 4">
            <a:extLst>
              <a:ext uri="{FF2B5EF4-FFF2-40B4-BE49-F238E27FC236}">
                <a16:creationId xmlns:a16="http://schemas.microsoft.com/office/drawing/2014/main" id="{3ED37B53-DB89-A4A4-3C59-56B5E47CC231}"/>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2628900" y="696997"/>
            <a:ext cx="8801100" cy="923330"/>
          </a:xfrm>
          <a:prstGeom prst="rect">
            <a:avLst/>
          </a:prstGeom>
        </p:spPr>
        <p:txBody>
          <a:bodyPr wrap="square">
            <a:spAutoFit/>
          </a:bodyPr>
          <a:lstStyle/>
          <a:p>
            <a:r>
              <a:rPr lang="en-GB" sz="5400" b="1" dirty="0" smtClean="0">
                <a:solidFill>
                  <a:schemeClr val="accent2"/>
                </a:solidFill>
                <a:latin typeface="Times New Roman" panose="02020603050405020304" pitchFamily="18" charset="0"/>
                <a:cs typeface="Times New Roman" panose="02020603050405020304" pitchFamily="18" charset="0"/>
              </a:rPr>
              <a:t>______________________</a:t>
            </a:r>
            <a:endParaRPr lang="en-IN" sz="5400"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19094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6E4E5-9B4B-A816-D8C8-2AEF9A417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4B017-6FD7-D3E7-FA03-4C0C3AAB24CF}"/>
              </a:ext>
            </a:extLst>
          </p:cNvPr>
          <p:cNvSpPr>
            <a:spLocks noGrp="1"/>
          </p:cNvSpPr>
          <p:nvPr>
            <p:ph type="title"/>
          </p:nvPr>
        </p:nvSpPr>
        <p:spPr>
          <a:xfrm>
            <a:off x="1679209" y="319045"/>
            <a:ext cx="9640034" cy="950955"/>
          </a:xfrm>
        </p:spPr>
        <p:txBody>
          <a:bodyPr>
            <a:noAutofit/>
          </a:bodyPr>
          <a:lstStyle/>
          <a:p>
            <a:r>
              <a:rPr lang="en-IN" sz="3200" b="1" spc="300" dirty="0" smtClean="0">
                <a:latin typeface="Times New Roman"/>
                <a:ea typeface="Calibri Light"/>
                <a:cs typeface="Calibri Light"/>
              </a:rPr>
              <a:t>16</a:t>
            </a:r>
            <a:r>
              <a:rPr lang="en-IN" sz="3200" b="1" spc="300" dirty="0" smtClean="0">
                <a:latin typeface="Times New Roman"/>
                <a:ea typeface="Calibri Light"/>
                <a:cs typeface="Calibri Light"/>
              </a:rPr>
              <a:t>.Key Advantages of Proposed System</a:t>
            </a:r>
            <a:endParaRPr lang="en-IN" sz="3200" b="1" spc="300" dirty="0">
              <a:latin typeface="Times New Roman"/>
              <a:ea typeface="Calibri Light"/>
              <a:cs typeface="Calibri Light"/>
            </a:endParaRPr>
          </a:p>
        </p:txBody>
      </p:sp>
      <p:sp>
        <p:nvSpPr>
          <p:cNvPr id="3" name="Content Placeholder 2">
            <a:extLst>
              <a:ext uri="{FF2B5EF4-FFF2-40B4-BE49-F238E27FC236}">
                <a16:creationId xmlns:a16="http://schemas.microsoft.com/office/drawing/2014/main" id="{D09F8CE1-B44B-2C2D-07BF-2BE9F9AFF09B}"/>
              </a:ext>
            </a:extLst>
          </p:cNvPr>
          <p:cNvSpPr>
            <a:spLocks noGrp="1"/>
          </p:cNvSpPr>
          <p:nvPr>
            <p:ph idx="1"/>
          </p:nvPr>
        </p:nvSpPr>
        <p:spPr>
          <a:xfrm>
            <a:off x="838200" y="1627142"/>
            <a:ext cx="10534650" cy="4202158"/>
          </a:xfrm>
        </p:spPr>
        <p:txBody>
          <a:bodyPr vert="horz" lIns="91440" tIns="45720" rIns="91440" bIns="45720" rtlCol="0" anchor="t">
            <a:noAutofit/>
          </a:bodyPr>
          <a:lstStyle/>
          <a:p>
            <a:pPr>
              <a:lnSpc>
                <a:spcPct val="150000"/>
              </a:lnSpc>
            </a:pPr>
            <a:r>
              <a:rPr lang="en-US" sz="3200" dirty="0">
                <a:latin typeface="Times New Roman" panose="02020603050405020304" pitchFamily="18" charset="0"/>
                <a:cs typeface="Times New Roman" panose="02020603050405020304" pitchFamily="18" charset="0"/>
              </a:rPr>
              <a:t>Low Latency Detection </a:t>
            </a:r>
          </a:p>
          <a:p>
            <a:pPr>
              <a:lnSpc>
                <a:spcPct val="150000"/>
              </a:lnSpc>
            </a:pPr>
            <a:r>
              <a:rPr lang="en-US" sz="3200" dirty="0">
                <a:latin typeface="Times New Roman" panose="02020603050405020304" pitchFamily="18" charset="0"/>
                <a:cs typeface="Times New Roman" panose="02020603050405020304" pitchFamily="18" charset="0"/>
              </a:rPr>
              <a:t>Internet Independence </a:t>
            </a:r>
          </a:p>
          <a:p>
            <a:pPr>
              <a:lnSpc>
                <a:spcPct val="150000"/>
              </a:lnSpc>
            </a:pPr>
            <a:r>
              <a:rPr lang="en-US" sz="3200" dirty="0">
                <a:latin typeface="Times New Roman" panose="02020603050405020304" pitchFamily="18" charset="0"/>
                <a:cs typeface="Times New Roman" panose="02020603050405020304" pitchFamily="18" charset="0"/>
              </a:rPr>
              <a:t>Improved Accuracy </a:t>
            </a:r>
          </a:p>
          <a:p>
            <a:pPr>
              <a:lnSpc>
                <a:spcPct val="150000"/>
              </a:lnSpc>
            </a:pPr>
            <a:r>
              <a:rPr lang="en-US" sz="3200" dirty="0">
                <a:latin typeface="Times New Roman" panose="02020603050405020304" pitchFamily="18" charset="0"/>
                <a:cs typeface="Times New Roman" panose="02020603050405020304" pitchFamily="18" charset="0"/>
              </a:rPr>
              <a:t>Cost-Effective Solution </a:t>
            </a:r>
          </a:p>
          <a:p>
            <a:pPr>
              <a:lnSpc>
                <a:spcPct val="150000"/>
              </a:lnSpc>
            </a:pPr>
            <a:r>
              <a:rPr lang="en-US" sz="3200" dirty="0">
                <a:latin typeface="Times New Roman" panose="02020603050405020304" pitchFamily="18" charset="0"/>
                <a:cs typeface="Times New Roman" panose="02020603050405020304" pitchFamily="18" charset="0"/>
              </a:rPr>
              <a:t>Real-Time Monitoring and Alerts </a:t>
            </a:r>
          </a:p>
          <a:p>
            <a:pPr marL="0" indent="0">
              <a:lnSpc>
                <a:spcPct val="110000"/>
              </a:lnSpc>
              <a:buNone/>
            </a:pPr>
            <a:endParaRPr lang="en-IN" dirty="0">
              <a:latin typeface="Times New Roman"/>
              <a:ea typeface="Calibri"/>
              <a:cs typeface="Calibri"/>
            </a:endParaRPr>
          </a:p>
        </p:txBody>
      </p:sp>
      <p:sp>
        <p:nvSpPr>
          <p:cNvPr id="5" name="Rectangle 4">
            <a:extLst>
              <a:ext uri="{FF2B5EF4-FFF2-40B4-BE49-F238E27FC236}">
                <a16:creationId xmlns:a16="http://schemas.microsoft.com/office/drawing/2014/main" id="{3ED37B53-DB89-A4A4-3C59-56B5E47CC231}"/>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2098676" y="346670"/>
            <a:ext cx="8801100" cy="923330"/>
          </a:xfrm>
          <a:prstGeom prst="rect">
            <a:avLst/>
          </a:prstGeom>
        </p:spPr>
        <p:txBody>
          <a:bodyPr wrap="square">
            <a:spAutoFit/>
          </a:bodyPr>
          <a:lstStyle/>
          <a:p>
            <a:r>
              <a:rPr lang="en-GB" sz="5400" b="1" dirty="0" smtClean="0">
                <a:solidFill>
                  <a:schemeClr val="accent2"/>
                </a:solidFill>
                <a:latin typeface="Times New Roman" panose="02020603050405020304" pitchFamily="18" charset="0"/>
                <a:cs typeface="Times New Roman" panose="02020603050405020304" pitchFamily="18" charset="0"/>
              </a:rPr>
              <a:t>_______________________</a:t>
            </a:r>
            <a:endParaRPr lang="en-IN" sz="5400"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85192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370476" y="341932"/>
            <a:ext cx="4417825" cy="369332"/>
          </a:xfrm>
          <a:prstGeom prst="rect">
            <a:avLst/>
          </a:prstGeom>
          <a:noFill/>
        </p:spPr>
        <p:txBody>
          <a:bodyPr wrap="square" rtlCol="0">
            <a:spAutoFit/>
          </a:bodyPr>
          <a:lstStyle/>
          <a:p>
            <a:endParaRPr lang="en-IN"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8949664" y="538065"/>
            <a:ext cx="2997255" cy="369332"/>
          </a:xfrm>
          <a:prstGeom prst="rect">
            <a:avLst/>
          </a:prstGeom>
          <a:noFill/>
        </p:spPr>
        <p:txBody>
          <a:bodyPr wrap="square" rtlCol="0">
            <a:spAutoFit/>
          </a:bodyPr>
          <a:lstStyle/>
          <a:p>
            <a:endParaRPr lang="en-IN" b="1" dirty="0">
              <a:latin typeface="Times New Roman" panose="02020603050405020304" pitchFamily="18" charset="0"/>
              <a:cs typeface="Times New Roman" panose="02020603050405020304" pitchFamily="18" charset="0"/>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9694" y="120650"/>
            <a:ext cx="7217225" cy="6447280"/>
          </a:xfrm>
          <a:prstGeom prst="rect">
            <a:avLst/>
          </a:prstGeom>
        </p:spPr>
      </p:pic>
      <p:sp>
        <p:nvSpPr>
          <p:cNvPr id="27" name="TextBox 26"/>
          <p:cNvSpPr txBox="1"/>
          <p:nvPr/>
        </p:nvSpPr>
        <p:spPr>
          <a:xfrm>
            <a:off x="622300" y="2073474"/>
            <a:ext cx="3644900" cy="707886"/>
          </a:xfrm>
          <a:prstGeom prst="rect">
            <a:avLst/>
          </a:prstGeom>
          <a:noFill/>
        </p:spPr>
        <p:txBody>
          <a:bodyPr wrap="square" rtlCol="0">
            <a:spAutoFit/>
          </a:bodyPr>
          <a:lstStyle/>
          <a:p>
            <a:r>
              <a:rPr lang="en-GB" sz="4000" b="1" dirty="0" smtClean="0">
                <a:latin typeface="Times New Roman" panose="02020603050405020304" pitchFamily="18" charset="0"/>
                <a:cs typeface="Times New Roman" panose="02020603050405020304" pitchFamily="18" charset="0"/>
              </a:rPr>
              <a:t>17.Python </a:t>
            </a:r>
            <a:r>
              <a:rPr lang="en-GB" sz="4000" b="1" dirty="0">
                <a:latin typeface="Times New Roman" panose="02020603050405020304" pitchFamily="18" charset="0"/>
                <a:cs typeface="Times New Roman" panose="02020603050405020304" pitchFamily="18" charset="0"/>
              </a:rPr>
              <a:t>Code</a:t>
            </a:r>
            <a:endParaRPr lang="en-IN" sz="4000" b="1" dirty="0">
              <a:latin typeface="Times New Roman" panose="02020603050405020304" pitchFamily="18" charset="0"/>
              <a:cs typeface="Times New Roman" panose="02020603050405020304" pitchFamily="18" charset="0"/>
            </a:endParaRPr>
          </a:p>
        </p:txBody>
      </p:sp>
      <p:sp>
        <p:nvSpPr>
          <p:cNvPr id="28" name="Rectangle 27"/>
          <p:cNvSpPr/>
          <p:nvPr/>
        </p:nvSpPr>
        <p:spPr>
          <a:xfrm>
            <a:off x="1241698" y="2073474"/>
            <a:ext cx="3256749" cy="1754326"/>
          </a:xfrm>
          <a:prstGeom prst="rect">
            <a:avLst/>
          </a:prstGeom>
        </p:spPr>
        <p:txBody>
          <a:bodyPr wrap="square">
            <a:spAutoFit/>
          </a:bodyPr>
          <a:lstStyle/>
          <a:p>
            <a:r>
              <a:rPr lang="en-GB" sz="5400" b="1" u="sng" dirty="0" smtClean="0">
                <a:solidFill>
                  <a:schemeClr val="accent2"/>
                </a:solidFill>
                <a:latin typeface="Times New Roman" panose="02020603050405020304" pitchFamily="18" charset="0"/>
                <a:cs typeface="Times New Roman" panose="02020603050405020304" pitchFamily="18" charset="0"/>
              </a:rPr>
              <a:t>________</a:t>
            </a:r>
            <a:endParaRPr lang="en-GB" sz="5400" b="1" u="sng" dirty="0">
              <a:solidFill>
                <a:schemeClr val="accent2"/>
              </a:solidFill>
              <a:latin typeface="Times New Roman" panose="02020603050405020304" pitchFamily="18" charset="0"/>
              <a:cs typeface="Times New Roman" panose="02020603050405020304" pitchFamily="18" charset="0"/>
            </a:endParaRPr>
          </a:p>
          <a:p>
            <a:endParaRPr lang="en-IN" sz="5400" b="1" u="sng"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618429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6E4E5-9B4B-A816-D8C8-2AEF9A417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4B017-6FD7-D3E7-FA03-4C0C3AAB24CF}"/>
              </a:ext>
            </a:extLst>
          </p:cNvPr>
          <p:cNvSpPr>
            <a:spLocks noGrp="1"/>
          </p:cNvSpPr>
          <p:nvPr>
            <p:ph type="title"/>
          </p:nvPr>
        </p:nvSpPr>
        <p:spPr>
          <a:xfrm>
            <a:off x="4424179" y="187933"/>
            <a:ext cx="3362691" cy="950955"/>
          </a:xfrm>
        </p:spPr>
        <p:txBody>
          <a:bodyPr>
            <a:noAutofit/>
          </a:bodyPr>
          <a:lstStyle/>
          <a:p>
            <a:r>
              <a:rPr lang="en-IN" sz="3200" b="1" spc="300" dirty="0" smtClean="0">
                <a:latin typeface="Times New Roman"/>
                <a:ea typeface="Calibri Light"/>
                <a:cs typeface="Calibri Light"/>
              </a:rPr>
              <a:t>18.Conclusion</a:t>
            </a:r>
            <a:endParaRPr lang="en-IN" sz="3200" b="1" spc="300" dirty="0">
              <a:latin typeface="Times New Roman"/>
              <a:ea typeface="Calibri Light"/>
              <a:cs typeface="Calibri Light"/>
            </a:endParaRPr>
          </a:p>
        </p:txBody>
      </p:sp>
      <p:sp>
        <p:nvSpPr>
          <p:cNvPr id="3" name="Content Placeholder 2">
            <a:extLst>
              <a:ext uri="{FF2B5EF4-FFF2-40B4-BE49-F238E27FC236}">
                <a16:creationId xmlns:a16="http://schemas.microsoft.com/office/drawing/2014/main" id="{D09F8CE1-B44B-2C2D-07BF-2BE9F9AFF09B}"/>
              </a:ext>
            </a:extLst>
          </p:cNvPr>
          <p:cNvSpPr>
            <a:spLocks noGrp="1"/>
          </p:cNvSpPr>
          <p:nvPr>
            <p:ph idx="1"/>
          </p:nvPr>
        </p:nvSpPr>
        <p:spPr>
          <a:xfrm>
            <a:off x="838200" y="1627142"/>
            <a:ext cx="10534650" cy="4672058"/>
          </a:xfrm>
        </p:spPr>
        <p:txBody>
          <a:bodyPr vert="horz" lIns="91440" tIns="45720" rIns="91440" bIns="45720" rtlCol="0" anchor="t">
            <a:noAutofit/>
          </a:bodyPr>
          <a:lstStyle/>
          <a:p>
            <a:r>
              <a:rPr lang="en-US" dirty="0">
                <a:latin typeface="Times New Roman" panose="02020603050405020304" pitchFamily="18" charset="0"/>
                <a:cs typeface="Times New Roman" panose="02020603050405020304" pitchFamily="18" charset="0"/>
              </a:rPr>
              <a:t>Developed an Edge-AI based fire detection system for smart agriculture </a:t>
            </a:r>
          </a:p>
          <a:p>
            <a:r>
              <a:rPr lang="en-US" dirty="0">
                <a:latin typeface="Times New Roman" panose="02020603050405020304" pitchFamily="18" charset="0"/>
                <a:cs typeface="Times New Roman" panose="02020603050405020304" pitchFamily="18" charset="0"/>
              </a:rPr>
              <a:t>Integrated sensors and YOLO model for real-time fire detection </a:t>
            </a:r>
          </a:p>
          <a:p>
            <a:r>
              <a:rPr lang="en-US" dirty="0">
                <a:latin typeface="Times New Roman" panose="02020603050405020304" pitchFamily="18" charset="0"/>
                <a:cs typeface="Times New Roman" panose="02020603050405020304" pitchFamily="18" charset="0"/>
              </a:rPr>
              <a:t>Achieved low latency using edge computing without internet dependency </a:t>
            </a:r>
          </a:p>
          <a:p>
            <a:r>
              <a:rPr lang="en-US" dirty="0">
                <a:latin typeface="Times New Roman" panose="02020603050405020304" pitchFamily="18" charset="0"/>
                <a:cs typeface="Times New Roman" panose="02020603050405020304" pitchFamily="18" charset="0"/>
              </a:rPr>
              <a:t>Provided live monitoring and alerts through a web dashboard </a:t>
            </a:r>
          </a:p>
          <a:p>
            <a:r>
              <a:rPr lang="en-US" dirty="0">
                <a:latin typeface="Times New Roman" panose="02020603050405020304" pitchFamily="18" charset="0"/>
                <a:cs typeface="Times New Roman" panose="02020603050405020304" pitchFamily="18" charset="0"/>
              </a:rPr>
              <a:t>Demonstrated reliable performance with good accuracy and low false alarms </a:t>
            </a:r>
          </a:p>
          <a:p>
            <a:r>
              <a:rPr lang="en-US" dirty="0">
                <a:latin typeface="Times New Roman" panose="02020603050405020304" pitchFamily="18" charset="0"/>
                <a:cs typeface="Times New Roman" panose="02020603050405020304" pitchFamily="18" charset="0"/>
              </a:rPr>
              <a:t>Proposed a cost-effective and scalable solution for agricultural fire safety </a:t>
            </a:r>
          </a:p>
          <a:p>
            <a:pPr marL="0" indent="0">
              <a:lnSpc>
                <a:spcPct val="110000"/>
              </a:lnSpc>
              <a:buNone/>
            </a:pPr>
            <a:endParaRPr lang="en-IN" dirty="0">
              <a:latin typeface="Times New Roman"/>
              <a:ea typeface="Calibri"/>
              <a:cs typeface="Calibri"/>
            </a:endParaRPr>
          </a:p>
        </p:txBody>
      </p:sp>
      <p:sp>
        <p:nvSpPr>
          <p:cNvPr id="5" name="Rectangle 4">
            <a:extLst>
              <a:ext uri="{FF2B5EF4-FFF2-40B4-BE49-F238E27FC236}">
                <a16:creationId xmlns:a16="http://schemas.microsoft.com/office/drawing/2014/main" id="{3ED37B53-DB89-A4A4-3C59-56B5E47CC231}"/>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4956176" y="215558"/>
            <a:ext cx="3768724" cy="923330"/>
          </a:xfrm>
          <a:prstGeom prst="rect">
            <a:avLst/>
          </a:prstGeom>
        </p:spPr>
        <p:txBody>
          <a:bodyPr wrap="square">
            <a:spAutoFit/>
          </a:bodyPr>
          <a:lstStyle/>
          <a:p>
            <a:r>
              <a:rPr lang="en-GB" sz="5400" b="1" dirty="0" smtClean="0">
                <a:solidFill>
                  <a:schemeClr val="accent2"/>
                </a:solidFill>
                <a:latin typeface="Times New Roman" panose="02020603050405020304" pitchFamily="18" charset="0"/>
                <a:cs typeface="Times New Roman" panose="02020603050405020304" pitchFamily="18" charset="0"/>
              </a:rPr>
              <a:t>_______</a:t>
            </a:r>
            <a:endParaRPr lang="en-IN" sz="5400"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6005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BFB38-CDE0-F322-5642-E08863937100}"/>
              </a:ext>
            </a:extLst>
          </p:cNvPr>
          <p:cNvSpPr>
            <a:spLocks noGrp="1"/>
          </p:cNvSpPr>
          <p:nvPr>
            <p:ph type="title"/>
          </p:nvPr>
        </p:nvSpPr>
        <p:spPr>
          <a:xfrm>
            <a:off x="4518803" y="0"/>
            <a:ext cx="3154394" cy="1023639"/>
          </a:xfrm>
        </p:spPr>
        <p:txBody>
          <a:bodyPr>
            <a:normAutofit fontScale="90000"/>
          </a:bodyPr>
          <a:lstStyle/>
          <a:p>
            <a:r>
              <a:rPr lang="en-US" sz="2800" b="1" dirty="0">
                <a:latin typeface="Times New Roman"/>
                <a:ea typeface="Calibri Light"/>
                <a:cs typeface="Calibri Light"/>
              </a:rPr>
              <a:t>            </a:t>
            </a:r>
            <a:r>
              <a:rPr lang="en-US" sz="4000" b="1" dirty="0">
                <a:latin typeface="Times New Roman"/>
                <a:ea typeface="Calibri Light"/>
                <a:cs typeface="Calibri Light"/>
              </a:rPr>
              <a:t>References</a:t>
            </a:r>
          </a:p>
        </p:txBody>
      </p:sp>
      <p:sp>
        <p:nvSpPr>
          <p:cNvPr id="3" name="Content Placeholder 2">
            <a:extLst>
              <a:ext uri="{FF2B5EF4-FFF2-40B4-BE49-F238E27FC236}">
                <a16:creationId xmlns:a16="http://schemas.microsoft.com/office/drawing/2014/main" id="{8B78FC5E-8F1F-E67F-78C5-90D81474B487}"/>
              </a:ext>
            </a:extLst>
          </p:cNvPr>
          <p:cNvSpPr>
            <a:spLocks noGrp="1"/>
          </p:cNvSpPr>
          <p:nvPr>
            <p:ph idx="1"/>
          </p:nvPr>
        </p:nvSpPr>
        <p:spPr>
          <a:xfrm>
            <a:off x="838200" y="1253331"/>
            <a:ext cx="10515600" cy="4351338"/>
          </a:xfrm>
          <a:noFill/>
          <a:ln>
            <a:noFill/>
          </a:ln>
        </p:spPr>
        <p:txBody>
          <a:bodyPr vert="horz" lIns="91440" tIns="45720" rIns="91440" bIns="45720" rtlCol="0" anchor="t">
            <a:noAutofit/>
          </a:bodyPr>
          <a:lstStyle/>
          <a:p>
            <a:pPr>
              <a:buFont typeface="Wingdings" panose="020B0604020202020204" pitchFamily="34" charset="0"/>
              <a:buChar char="Ø"/>
            </a:pPr>
            <a:r>
              <a:rPr lang="en-US" dirty="0">
                <a:latin typeface="Times New Roman"/>
                <a:ea typeface="+mn-lt"/>
                <a:cs typeface="+mn-lt"/>
              </a:rPr>
              <a:t>Morchid, A., </a:t>
            </a:r>
            <a:r>
              <a:rPr lang="en-US" dirty="0" err="1">
                <a:latin typeface="Times New Roman"/>
                <a:ea typeface="+mn-lt"/>
                <a:cs typeface="+mn-lt"/>
              </a:rPr>
              <a:t>Oughannou</a:t>
            </a:r>
            <a:r>
              <a:rPr lang="en-US" dirty="0">
                <a:latin typeface="Times New Roman"/>
                <a:ea typeface="+mn-lt"/>
                <a:cs typeface="+mn-lt"/>
              </a:rPr>
              <a:t>, Z., El Alami, R., &amp; </a:t>
            </a:r>
            <a:r>
              <a:rPr lang="en-US" dirty="0" err="1">
                <a:latin typeface="Times New Roman"/>
                <a:ea typeface="+mn-lt"/>
                <a:cs typeface="+mn-lt"/>
              </a:rPr>
              <a:t>Qjidaa</a:t>
            </a:r>
            <a:r>
              <a:rPr lang="en-US" dirty="0">
                <a:latin typeface="Times New Roman"/>
                <a:ea typeface="+mn-lt"/>
                <a:cs typeface="+mn-lt"/>
              </a:rPr>
              <a:t>, H. (2024). </a:t>
            </a:r>
            <a:r>
              <a:rPr lang="en-US" i="1" dirty="0">
                <a:latin typeface="Times New Roman"/>
                <a:ea typeface="+mn-lt"/>
                <a:cs typeface="+mn-lt"/>
              </a:rPr>
              <a:t>IoT-enabled fire detection for sustainable agriculture:  real-time fire detection system tailored for smart agriculture.</a:t>
            </a:r>
            <a:r>
              <a:rPr lang="en-US" dirty="0">
                <a:latin typeface="Times New Roman"/>
                <a:ea typeface="+mn-lt"/>
                <a:cs typeface="+mn-lt"/>
              </a:rPr>
              <a:t> </a:t>
            </a:r>
            <a:r>
              <a:rPr lang="en-US" b="1" dirty="0">
                <a:latin typeface="Times New Roman"/>
                <a:ea typeface="+mn-lt"/>
                <a:cs typeface="+mn-lt"/>
              </a:rPr>
              <a:t>Sustainable Computing: Informatics and Systems, Elsevier.</a:t>
            </a:r>
            <a:endParaRPr lang="en-US" dirty="0">
              <a:latin typeface="Times New Roman"/>
              <a:ea typeface="Calibri" panose="020F0502020204030204"/>
              <a:cs typeface="Calibri" panose="020F0502020204030204"/>
            </a:endParaRPr>
          </a:p>
          <a:p>
            <a:pPr>
              <a:buFont typeface="Wingdings" panose="020B0604020202020204" pitchFamily="34" charset="0"/>
              <a:buChar char="Ø"/>
            </a:pPr>
            <a:r>
              <a:rPr lang="en-US" dirty="0">
                <a:latin typeface="Times New Roman"/>
                <a:ea typeface="+mn-lt"/>
                <a:cs typeface="+mn-lt"/>
              </a:rPr>
              <a:t>Lee, S.-J., Yun, H.-S., Sim, Y.-B., &amp; Lee, S.-H. (2025). </a:t>
            </a:r>
            <a:r>
              <a:rPr lang="en-US" i="1" dirty="0">
                <a:latin typeface="Times New Roman"/>
                <a:ea typeface="+mn-lt"/>
                <a:cs typeface="+mn-lt"/>
              </a:rPr>
              <a:t>Design and Validation of an Edge-AI Fire Safety System with SmartThings Integration for Accelerated Detection and Targeted Suppression.</a:t>
            </a:r>
            <a:r>
              <a:rPr lang="en-US" dirty="0">
                <a:latin typeface="Times New Roman"/>
                <a:ea typeface="+mn-lt"/>
                <a:cs typeface="+mn-lt"/>
              </a:rPr>
              <a:t> </a:t>
            </a:r>
            <a:r>
              <a:rPr lang="en-US" b="1" dirty="0">
                <a:latin typeface="Times New Roman"/>
                <a:ea typeface="+mn-lt"/>
                <a:cs typeface="+mn-lt"/>
              </a:rPr>
              <a:t>Applied Sciences, MDPI.</a:t>
            </a:r>
            <a:endParaRPr lang="en-US" dirty="0">
              <a:latin typeface="Times New Roman"/>
              <a:ea typeface="Calibri"/>
              <a:cs typeface="Calibri"/>
            </a:endParaRPr>
          </a:p>
          <a:p>
            <a:pPr>
              <a:buFont typeface="Wingdings" panose="020B0604020202020204" pitchFamily="34" charset="0"/>
              <a:buChar char="Ø"/>
            </a:pPr>
            <a:r>
              <a:rPr lang="en-US" dirty="0">
                <a:latin typeface="Times New Roman"/>
                <a:ea typeface="+mn-lt"/>
                <a:cs typeface="+mn-lt"/>
              </a:rPr>
              <a:t>Titu, M. F. S., Pavel, M. A., Michael, G. K. O., Babar, H., Aman, U., &amp; Khan, R. (2024). </a:t>
            </a:r>
            <a:r>
              <a:rPr lang="en-US" i="1" dirty="0">
                <a:latin typeface="Times New Roman"/>
                <a:ea typeface="+mn-lt"/>
                <a:cs typeface="+mn-lt"/>
              </a:rPr>
              <a:t>Real-Time Fire Detection: Integrating Lightweight Deep Learning Models on Drones with Edge Computing.</a:t>
            </a:r>
            <a:r>
              <a:rPr lang="en-US" dirty="0">
                <a:latin typeface="Times New Roman"/>
                <a:ea typeface="+mn-lt"/>
                <a:cs typeface="+mn-lt"/>
              </a:rPr>
              <a:t> </a:t>
            </a:r>
            <a:r>
              <a:rPr lang="en-US" b="1" dirty="0">
                <a:latin typeface="Times New Roman"/>
                <a:ea typeface="+mn-lt"/>
                <a:cs typeface="+mn-lt"/>
              </a:rPr>
              <a:t>Drones, MDPI.</a:t>
            </a:r>
            <a:endParaRPr lang="en-US" dirty="0">
              <a:latin typeface="Times New Roman"/>
              <a:ea typeface="Calibri"/>
              <a:cs typeface="Calibri"/>
            </a:endParaRPr>
          </a:p>
          <a:p>
            <a:pPr>
              <a:buFont typeface="Wingdings" panose="020B0604020202020204" pitchFamily="34" charset="0"/>
              <a:buChar char="Ø"/>
            </a:pPr>
            <a:endParaRPr lang="en-US" dirty="0">
              <a:latin typeface="Times New Roman"/>
              <a:ea typeface="Calibri"/>
              <a:cs typeface="Calibri"/>
            </a:endParaRPr>
          </a:p>
        </p:txBody>
      </p:sp>
      <p:sp>
        <p:nvSpPr>
          <p:cNvPr id="6" name="Rectangle 5">
            <a:extLst>
              <a:ext uri="{FF2B5EF4-FFF2-40B4-BE49-F238E27FC236}">
                <a16:creationId xmlns:a16="http://schemas.microsoft.com/office/drawing/2014/main" id="{B4252D4A-D003-DD66-3267-D5FE765ED1D1}"/>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 </a:t>
            </a:r>
            <a:endParaRPr lang="en-IN" dirty="0"/>
          </a:p>
        </p:txBody>
      </p:sp>
    </p:spTree>
    <p:extLst>
      <p:ext uri="{BB962C8B-B14F-4D97-AF65-F5344CB8AC3E}">
        <p14:creationId xmlns:p14="http://schemas.microsoft.com/office/powerpoint/2010/main" val="24984118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8DC7-1423-9064-23F2-1396BCE30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F554F-8325-CF42-9E77-8BE259A770E1}"/>
              </a:ext>
            </a:extLst>
          </p:cNvPr>
          <p:cNvSpPr>
            <a:spLocks noGrp="1"/>
          </p:cNvSpPr>
          <p:nvPr>
            <p:ph type="title"/>
          </p:nvPr>
        </p:nvSpPr>
        <p:spPr>
          <a:xfrm>
            <a:off x="4278513" y="514350"/>
            <a:ext cx="3154394" cy="644875"/>
          </a:xfrm>
        </p:spPr>
        <p:txBody>
          <a:bodyPr>
            <a:noAutofit/>
          </a:bodyPr>
          <a:lstStyle/>
          <a:p>
            <a:r>
              <a:rPr lang="en-US" sz="4000" b="1" dirty="0">
                <a:latin typeface="Times New Roman"/>
                <a:ea typeface="Calibri Light"/>
                <a:cs typeface="Calibri Light"/>
              </a:rPr>
              <a:t>            References</a:t>
            </a:r>
          </a:p>
        </p:txBody>
      </p:sp>
      <p:sp>
        <p:nvSpPr>
          <p:cNvPr id="3" name="Content Placeholder 2">
            <a:extLst>
              <a:ext uri="{FF2B5EF4-FFF2-40B4-BE49-F238E27FC236}">
                <a16:creationId xmlns:a16="http://schemas.microsoft.com/office/drawing/2014/main" id="{1C3D4816-CD32-C052-9114-3770B50F3257}"/>
              </a:ext>
            </a:extLst>
          </p:cNvPr>
          <p:cNvSpPr>
            <a:spLocks noGrp="1"/>
          </p:cNvSpPr>
          <p:nvPr>
            <p:ph idx="1"/>
          </p:nvPr>
        </p:nvSpPr>
        <p:spPr>
          <a:xfrm>
            <a:off x="838200" y="1710606"/>
            <a:ext cx="10515600" cy="4351338"/>
          </a:xfrm>
          <a:ln>
            <a:noFill/>
          </a:ln>
        </p:spPr>
        <p:txBody>
          <a:bodyPr vert="horz" lIns="91440" tIns="45720" rIns="91440" bIns="45720" rtlCol="0" anchor="t">
            <a:normAutofit/>
          </a:bodyPr>
          <a:lstStyle/>
          <a:p>
            <a:pPr>
              <a:buFont typeface="Wingdings" panose="020B0604020202020204" pitchFamily="34" charset="0"/>
              <a:buChar char="Ø"/>
            </a:pPr>
            <a:r>
              <a:rPr lang="en-US" dirty="0">
                <a:latin typeface="Times New Roman"/>
                <a:ea typeface="+mn-lt"/>
                <a:cs typeface="+mn-lt"/>
              </a:rPr>
              <a:t>Rachman, A. S., et al. (2021). </a:t>
            </a:r>
            <a:r>
              <a:rPr lang="en-US" i="1" dirty="0">
                <a:latin typeface="Times New Roman"/>
                <a:ea typeface="+mn-lt"/>
                <a:cs typeface="+mn-lt"/>
              </a:rPr>
              <a:t>Fire early detection IoT-based using </a:t>
            </a:r>
            <a:r>
              <a:rPr lang="en-US" i="1" dirty="0" err="1">
                <a:latin typeface="Times New Roman"/>
                <a:ea typeface="+mn-lt"/>
                <a:cs typeface="+mn-lt"/>
              </a:rPr>
              <a:t>NodeMCU</a:t>
            </a:r>
            <a:r>
              <a:rPr lang="en-US" i="1" dirty="0">
                <a:latin typeface="Times New Roman"/>
                <a:ea typeface="+mn-lt"/>
                <a:cs typeface="+mn-lt"/>
              </a:rPr>
              <a:t> ESP8266 and </a:t>
            </a:r>
            <a:r>
              <a:rPr lang="en-US" i="1" dirty="0" err="1">
                <a:latin typeface="Times New Roman"/>
                <a:ea typeface="+mn-lt"/>
                <a:cs typeface="+mn-lt"/>
              </a:rPr>
              <a:t>ThingerIO</a:t>
            </a:r>
            <a:r>
              <a:rPr lang="en-US" i="1" dirty="0">
                <a:latin typeface="Times New Roman"/>
                <a:ea typeface="+mn-lt"/>
                <a:cs typeface="+mn-lt"/>
              </a:rPr>
              <a:t> web server.</a:t>
            </a:r>
            <a:r>
              <a:rPr lang="en-US" dirty="0">
                <a:latin typeface="Times New Roman"/>
                <a:ea typeface="+mn-lt"/>
                <a:cs typeface="+mn-lt"/>
              </a:rPr>
              <a:t> </a:t>
            </a:r>
            <a:r>
              <a:rPr lang="en-US" b="1" dirty="0">
                <a:latin typeface="Times New Roman"/>
                <a:ea typeface="+mn-lt"/>
                <a:cs typeface="+mn-lt"/>
              </a:rPr>
              <a:t>ResearchGate.</a:t>
            </a:r>
            <a:endParaRPr lang="en-US" dirty="0">
              <a:latin typeface="Times New Roman"/>
              <a:ea typeface="Calibri"/>
              <a:cs typeface="Calibri"/>
            </a:endParaRPr>
          </a:p>
          <a:p>
            <a:pPr>
              <a:buFont typeface="Wingdings" panose="020B0604020202020204" pitchFamily="34" charset="0"/>
              <a:buChar char="Ø"/>
            </a:pPr>
            <a:r>
              <a:rPr lang="en-US" dirty="0">
                <a:latin typeface="Times New Roman"/>
                <a:ea typeface="+mn-lt"/>
                <a:cs typeface="+mn-lt"/>
              </a:rPr>
              <a:t>Sharma, N., &amp; Yadav, V. (2024). </a:t>
            </a:r>
            <a:r>
              <a:rPr lang="en-US" i="1" dirty="0" err="1">
                <a:latin typeface="Times New Roman"/>
                <a:ea typeface="+mn-lt"/>
                <a:cs typeface="+mn-lt"/>
              </a:rPr>
              <a:t>NodeMCU</a:t>
            </a:r>
            <a:r>
              <a:rPr lang="en-US" i="1" dirty="0">
                <a:latin typeface="Times New Roman"/>
                <a:ea typeface="+mn-lt"/>
                <a:cs typeface="+mn-lt"/>
              </a:rPr>
              <a:t>-based Forest Fire Detection System.</a:t>
            </a:r>
            <a:r>
              <a:rPr lang="en-US" dirty="0">
                <a:latin typeface="Times New Roman"/>
                <a:ea typeface="+mn-lt"/>
                <a:cs typeface="+mn-lt"/>
              </a:rPr>
              <a:t> </a:t>
            </a:r>
            <a:r>
              <a:rPr lang="en-US" b="1" dirty="0">
                <a:latin typeface="Times New Roman"/>
                <a:ea typeface="+mn-lt"/>
                <a:cs typeface="+mn-lt"/>
              </a:rPr>
              <a:t>International Journal of Novel Research and Development (IJNRD).</a:t>
            </a:r>
            <a:endParaRPr lang="en-US" dirty="0">
              <a:latin typeface="Times New Roman"/>
              <a:ea typeface="Calibri"/>
              <a:cs typeface="Calibri"/>
            </a:endParaRPr>
          </a:p>
          <a:p>
            <a:pPr>
              <a:buFont typeface="Wingdings" panose="020B0604020202020204" pitchFamily="34" charset="0"/>
              <a:buChar char="Ø"/>
            </a:pPr>
            <a:r>
              <a:rPr lang="en-US" dirty="0">
                <a:latin typeface="Times New Roman"/>
                <a:ea typeface="+mn-lt"/>
                <a:cs typeface="+mn-lt"/>
              </a:rPr>
              <a:t>Rahman, A., &amp; Paul, B. (2025). </a:t>
            </a:r>
            <a:r>
              <a:rPr lang="en-US" i="1" dirty="0">
                <a:latin typeface="Times New Roman"/>
                <a:ea typeface="+mn-lt"/>
                <a:cs typeface="+mn-lt"/>
              </a:rPr>
              <a:t>Efficient Edge Deployment of Quantized YOLOv4-Tiny for Aerial Emergency Object Detection on Raspberry Pi 5.</a:t>
            </a:r>
            <a:r>
              <a:rPr lang="en-US" dirty="0">
                <a:latin typeface="Times New Roman"/>
                <a:ea typeface="+mn-lt"/>
                <a:cs typeface="+mn-lt"/>
              </a:rPr>
              <a:t> </a:t>
            </a:r>
            <a:r>
              <a:rPr lang="en-US" b="1" dirty="0" err="1">
                <a:latin typeface="Times New Roman"/>
                <a:ea typeface="+mn-lt"/>
                <a:cs typeface="+mn-lt"/>
              </a:rPr>
              <a:t>arXiv</a:t>
            </a:r>
            <a:r>
              <a:rPr lang="en-US" b="1" dirty="0">
                <a:latin typeface="Times New Roman"/>
                <a:ea typeface="+mn-lt"/>
                <a:cs typeface="+mn-lt"/>
              </a:rPr>
              <a:t> preprint.</a:t>
            </a:r>
            <a:endParaRPr lang="en-US" dirty="0">
              <a:latin typeface="Times New Roman"/>
              <a:ea typeface="Calibri"/>
              <a:cs typeface="Calibri"/>
            </a:endParaRPr>
          </a:p>
          <a:p>
            <a:pPr>
              <a:buFont typeface="Wingdings" panose="020B0604020202020204" pitchFamily="34" charset="0"/>
              <a:buChar char="Ø"/>
            </a:pPr>
            <a:r>
              <a:rPr lang="en-US" dirty="0">
                <a:latin typeface="Times New Roman"/>
                <a:ea typeface="+mn-lt"/>
                <a:cs typeface="+mn-lt"/>
              </a:rPr>
              <a:t>Yin, H., et al. (2023). </a:t>
            </a:r>
            <a:r>
              <a:rPr lang="en-US" i="1" dirty="0">
                <a:latin typeface="Times New Roman"/>
                <a:ea typeface="+mn-lt"/>
                <a:cs typeface="+mn-lt"/>
              </a:rPr>
              <a:t>A real-time detection model for smoke in grain bins with compressed ML techniques.</a:t>
            </a:r>
            <a:r>
              <a:rPr lang="en-US" dirty="0">
                <a:latin typeface="Times New Roman"/>
                <a:ea typeface="+mn-lt"/>
                <a:cs typeface="+mn-lt"/>
              </a:rPr>
              <a:t> </a:t>
            </a:r>
            <a:r>
              <a:rPr lang="en-US" b="1" dirty="0">
                <a:latin typeface="Times New Roman"/>
                <a:ea typeface="+mn-lt"/>
                <a:cs typeface="+mn-lt"/>
              </a:rPr>
              <a:t>Sensors (MDPI).</a:t>
            </a:r>
            <a:endParaRPr lang="en-US" dirty="0">
              <a:latin typeface="Times New Roman"/>
              <a:ea typeface="Calibri"/>
              <a:cs typeface="Calibri"/>
            </a:endParaRPr>
          </a:p>
          <a:p>
            <a:pPr>
              <a:buFont typeface="Wingdings" panose="020B0604020202020204" pitchFamily="34" charset="0"/>
              <a:buChar char="Ø"/>
            </a:pPr>
            <a:endParaRPr lang="en-US" dirty="0">
              <a:latin typeface="Times New Roman"/>
              <a:ea typeface="Calibri"/>
              <a:cs typeface="Calibri"/>
            </a:endParaRPr>
          </a:p>
        </p:txBody>
      </p:sp>
      <p:sp>
        <p:nvSpPr>
          <p:cNvPr id="4" name="Rectangle 3">
            <a:extLst>
              <a:ext uri="{FF2B5EF4-FFF2-40B4-BE49-F238E27FC236}">
                <a16:creationId xmlns:a16="http://schemas.microsoft.com/office/drawing/2014/main" id="{DE43E40C-751F-43DB-2A0B-BF50A1E6278D}"/>
              </a:ext>
            </a:extLst>
          </p:cNvPr>
          <p:cNvSpPr/>
          <p:nvPr/>
        </p:nvSpPr>
        <p:spPr>
          <a:xfrm>
            <a:off x="363415" y="281354"/>
            <a:ext cx="11418277" cy="6236677"/>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953901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CAFC9E7-8596-4385-87EC-1334AC878439}">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1220</TotalTime>
  <Words>1420</Words>
  <Application>Microsoft Office PowerPoint</Application>
  <PresentationFormat>Widescreen</PresentationFormat>
  <Paragraphs>205</Paragraphs>
  <Slides>25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Times New Roman</vt:lpstr>
      <vt:lpstr>Wingdings</vt:lpstr>
      <vt:lpstr>Office Theme</vt:lpstr>
      <vt:lpstr>EDGE-AI ENABLED IOT ARCHITECTURE FOR EARLY FIRE DETECTION IN SMART AGRICULTURE</vt:lpstr>
      <vt:lpstr>CONTENTS</vt:lpstr>
      <vt:lpstr>       ABSTRACT</vt:lpstr>
      <vt:lpstr>1.Introduction </vt:lpstr>
      <vt:lpstr>PowerPoint Presentation</vt:lpstr>
      <vt:lpstr> 3.Objectives</vt:lpstr>
      <vt:lpstr>4. Literature survey</vt:lpstr>
      <vt:lpstr> 5.Existing Methodology</vt:lpstr>
      <vt:lpstr> 6.Designed Methodology</vt:lpstr>
      <vt:lpstr>7.Block Diagram  </vt:lpstr>
      <vt:lpstr>8.Materials  </vt:lpstr>
      <vt:lpstr>PowerPoint Presentation</vt:lpstr>
      <vt:lpstr>9.Working</vt:lpstr>
      <vt:lpstr>10. Prototype</vt:lpstr>
      <vt:lpstr>11. Implementation Details</vt:lpstr>
      <vt:lpstr>12. Key Observations</vt:lpstr>
      <vt:lpstr>13.Key Differences</vt:lpstr>
      <vt:lpstr>14. Results and Discussion</vt:lpstr>
      <vt:lpstr>PowerPoint Presentation</vt:lpstr>
      <vt:lpstr>15.Limitations of Existing Layer</vt:lpstr>
      <vt:lpstr>16.Key Advantages of Proposed System</vt:lpstr>
      <vt:lpstr>PowerPoint Presentation</vt:lpstr>
      <vt:lpstr>18.Conclusion</vt:lpstr>
      <vt:lpstr>            References</vt:lpstr>
      <vt:lpstr>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OF METAMATERIAL BASED ANTENNA FOR NON- INVASIVE EARLY BREAST TUMOR DETECTION</dc:title>
  <dc:creator>Golakoti Tanuja Sai Swathi</dc:creator>
  <cp:lastModifiedBy>user</cp:lastModifiedBy>
  <cp:revision>155</cp:revision>
  <dcterms:created xsi:type="dcterms:W3CDTF">2024-02-07T07:26:29Z</dcterms:created>
  <dcterms:modified xsi:type="dcterms:W3CDTF">2026-04-20T17:23:57Z</dcterms:modified>
</cp:coreProperties>
</file>